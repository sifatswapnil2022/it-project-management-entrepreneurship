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6858000" cx="9144000"/>
  <p:notesSz cx="6858000" cy="9144000"/>
  <p:embeddedFontLst>
    <p:embeddedFont>
      <p:font typeface="Gill Sans"/>
      <p:regular r:id="rId66"/>
      <p:bold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8" roundtripDataSignature="AMtx7mgUaA3F4MxkcDuVOhD8cpAzhCNR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GillSans-regular.fnt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customschemas.google.com/relationships/presentationmetadata" Target="metadata"/><Relationship Id="rId23" Type="http://schemas.openxmlformats.org/officeDocument/2006/relationships/slide" Target="slides/slide17.xml"/><Relationship Id="rId67" Type="http://schemas.openxmlformats.org/officeDocument/2006/relationships/font" Target="fonts/GillSans-bold.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4" name="Google Shape;6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
        <p:nvSpPr>
          <p:cNvPr id="66" name="Google Shape;66;p1:notes"/>
          <p:cNvSpPr txBox="1"/>
          <p:nvPr/>
        </p:nvSpPr>
        <p:spPr>
          <a:xfrm>
            <a:off x="0"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3" name="Google Shape;83;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https://www.investopedia.com/ask/answers/031815/what-formula-calculating-profit-margins.asp</a:t>
            </a:r>
            <a:endParaRPr/>
          </a:p>
          <a:p>
            <a:pPr indent="0" lvl="0" marL="0" rtl="0" algn="l">
              <a:spcBef>
                <a:spcPts val="0"/>
              </a:spcBef>
              <a:spcAft>
                <a:spcPts val="0"/>
              </a:spcAft>
              <a:buNone/>
            </a:pPr>
            <a:r>
              <a:t/>
            </a:r>
            <a:endParaRPr/>
          </a:p>
        </p:txBody>
      </p:sp>
      <p:sp>
        <p:nvSpPr>
          <p:cNvPr id="84" name="Google Shape;84;p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0" name="Google Shape;90;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profit and loss account records all the incomes and expenses that have taken place in the year. All the expenses are recorded on the debit side whereas all the incomes are recorded on the credit side. When the credit side is more than the debit side it denotes profit. Hence, Credit balance of Profit and loss account is profit.</a:t>
            </a:r>
            <a:endParaRPr/>
          </a:p>
        </p:txBody>
      </p:sp>
      <p:sp>
        <p:nvSpPr>
          <p:cNvPr id="91" name="Google Shape;91;p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6484e132b5_5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6484e132b5_5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g26484e132b5_5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6484e132b5_5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6484e132b5_5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26484e132b5_5_6: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6484e132b5_5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6484e132b5_5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g26484e132b5_5_1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6484e132b5_5_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6484e132b5_5_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g26484e132b5_5_1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6484e132b5_5_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6484e132b5_5_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g26484e132b5_5_24: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6484e132b5_5_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6484e132b5_5_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g26484e132b5_5_3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6484e132b5_5_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26484e132b5_5_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26484e132b5_5_4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26484e132b5_5_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26484e132b5_5_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26484e132b5_5_54: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6484e132b5_5_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6484e132b5_5_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g26484e132b5_5_6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6484e132b5_5_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6484e132b5_5_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26484e132b5_5_66: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6484e132b5_5_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6484e132b5_5_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g26484e132b5_5_7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26484e132b5_5_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26484e132b5_5_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g26484e132b5_5_78: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6484e132b5_5_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26484e132b5_5_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26484e132b5_5_84: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53" name="Google Shape;353;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https://www.javatpoint.com/cocomo-model</a:t>
            </a:r>
            <a:endParaRPr/>
          </a:p>
          <a:p>
            <a:pPr indent="0" lvl="0" marL="0" rtl="0" algn="l">
              <a:spcBef>
                <a:spcPts val="0"/>
              </a:spcBef>
              <a:spcAft>
                <a:spcPts val="0"/>
              </a:spcAft>
              <a:buNone/>
            </a:pPr>
            <a:r>
              <a:t/>
            </a:r>
            <a:endParaRPr/>
          </a:p>
        </p:txBody>
      </p:sp>
      <p:sp>
        <p:nvSpPr>
          <p:cNvPr id="354" name="Google Shape;354;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48"/>
          <p:cNvSpPr txBox="1"/>
          <p:nvPr>
            <p:ph type="ctrTitle"/>
          </p:nvPr>
        </p:nvSpPr>
        <p:spPr>
          <a:xfrm>
            <a:off x="1219200" y="3886200"/>
            <a:ext cx="6858000" cy="990600"/>
          </a:xfrm>
          <a:prstGeom prst="rect">
            <a:avLst/>
          </a:prstGeom>
          <a:noFill/>
          <a:ln>
            <a:noFill/>
          </a:ln>
        </p:spPr>
        <p:txBody>
          <a:bodyPr anchorCtr="0" anchor="t" bIns="45700" lIns="91425" spcFirstLastPara="1" rIns="91425" wrap="square" tIns="45700">
            <a:noAutofit/>
          </a:bodyPr>
          <a:lstStyle>
            <a:lvl1pPr lvl="0" algn="r">
              <a:spcBef>
                <a:spcPts val="0"/>
              </a:spcBef>
              <a:spcAft>
                <a:spcPts val="0"/>
              </a:spcAft>
              <a:buSzPts val="1400"/>
              <a:buNone/>
              <a:defRPr sz="32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8"/>
          <p:cNvSpPr txBox="1"/>
          <p:nvPr>
            <p:ph idx="1" type="subTitle"/>
          </p:nvPr>
        </p:nvSpPr>
        <p:spPr>
          <a:xfrm>
            <a:off x="1219200" y="5124450"/>
            <a:ext cx="6858000" cy="533400"/>
          </a:xfrm>
          <a:prstGeom prst="rect">
            <a:avLst/>
          </a:prstGeom>
          <a:noFill/>
          <a:ln>
            <a:noFill/>
          </a:ln>
        </p:spPr>
        <p:txBody>
          <a:bodyPr anchorCtr="0" anchor="t" bIns="45700" lIns="91425" spcFirstLastPara="1" rIns="91425" wrap="square" tIns="45700">
            <a:noAutofit/>
          </a:bodyPr>
          <a:lstStyle>
            <a:lvl1pPr lvl="0" algn="r">
              <a:spcBef>
                <a:spcPts val="600"/>
              </a:spcBef>
              <a:spcAft>
                <a:spcPts val="0"/>
              </a:spcAft>
              <a:buSzPts val="1520"/>
              <a:buNone/>
              <a:defRPr sz="2000">
                <a:solidFill>
                  <a:schemeClr val="dk2"/>
                </a:solidFill>
                <a:latin typeface="Bookman Old Style"/>
                <a:ea typeface="Bookman Old Style"/>
                <a:cs typeface="Bookman Old Style"/>
                <a:sym typeface="Bookman Old Style"/>
              </a:defRPr>
            </a:lvl1pPr>
            <a:lvl2pPr lvl="1" algn="ctr">
              <a:spcBef>
                <a:spcPts val="500"/>
              </a:spcBef>
              <a:spcAft>
                <a:spcPts val="0"/>
              </a:spcAft>
              <a:buSzPts val="1368"/>
              <a:buNone/>
              <a:defRPr/>
            </a:lvl2pPr>
            <a:lvl3pPr lvl="2" algn="ctr">
              <a:spcBef>
                <a:spcPts val="500"/>
              </a:spcBef>
              <a:spcAft>
                <a:spcPts val="0"/>
              </a:spcAft>
              <a:buSzPts val="1368"/>
              <a:buNone/>
              <a:defRPr/>
            </a:lvl3pPr>
            <a:lvl4pPr lvl="3" algn="ctr">
              <a:spcBef>
                <a:spcPts val="400"/>
              </a:spcBef>
              <a:spcAft>
                <a:spcPts val="0"/>
              </a:spcAft>
              <a:buSzPts val="1260"/>
              <a:buNone/>
              <a:defRPr/>
            </a:lvl4pPr>
            <a:lvl5pPr lvl="4" algn="ctr">
              <a:spcBef>
                <a:spcPts val="300"/>
              </a:spcBef>
              <a:spcAft>
                <a:spcPts val="0"/>
              </a:spcAft>
              <a:buSzPts val="1260"/>
              <a:buNone/>
              <a:defRPr/>
            </a:lvl5pPr>
            <a:lvl6pPr lvl="5" algn="ctr">
              <a:spcBef>
                <a:spcPts val="300"/>
              </a:spcBef>
              <a:spcAft>
                <a:spcPts val="0"/>
              </a:spcAft>
              <a:buSzPts val="1350"/>
              <a:buNone/>
              <a:defRPr/>
            </a:lvl6pPr>
            <a:lvl7pPr lvl="6" algn="ctr">
              <a:spcBef>
                <a:spcPts val="300"/>
              </a:spcBef>
              <a:spcAft>
                <a:spcPts val="0"/>
              </a:spcAft>
              <a:buSzPts val="1350"/>
              <a:buNone/>
              <a:defRPr/>
            </a:lvl7pPr>
            <a:lvl8pPr lvl="7" algn="ctr">
              <a:spcBef>
                <a:spcPts val="300"/>
              </a:spcBef>
              <a:spcAft>
                <a:spcPts val="0"/>
              </a:spcAft>
              <a:buSzPts val="1350"/>
              <a:buNone/>
              <a:defRPr/>
            </a:lvl8pPr>
            <a:lvl9pPr lvl="8" algn="ctr">
              <a:spcBef>
                <a:spcPts val="300"/>
              </a:spcBef>
              <a:spcAft>
                <a:spcPts val="0"/>
              </a:spcAft>
              <a:buSzPts val="1350"/>
              <a:buNone/>
              <a:defRPr/>
            </a:lvl9pPr>
          </a:lstStyle>
          <a:p/>
        </p:txBody>
      </p:sp>
      <p:sp>
        <p:nvSpPr>
          <p:cNvPr id="22" name="Google Shape;22;p48"/>
          <p:cNvSpPr txBox="1"/>
          <p:nvPr>
            <p:ph idx="10" type="dt"/>
          </p:nvPr>
        </p:nvSpPr>
        <p:spPr>
          <a:xfrm>
            <a:off x="6400800" y="6354762"/>
            <a:ext cx="2286000"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8"/>
          <p:cNvSpPr txBox="1"/>
          <p:nvPr>
            <p:ph idx="11" type="ftr"/>
          </p:nvPr>
        </p:nvSpPr>
        <p:spPr>
          <a:xfrm>
            <a:off x="2898775" y="6354762"/>
            <a:ext cx="3475037"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8"/>
          <p:cNvSpPr txBox="1"/>
          <p:nvPr>
            <p:ph idx="12" type="sldNum"/>
          </p:nvPr>
        </p:nvSpPr>
        <p:spPr>
          <a:xfrm>
            <a:off x="1216025" y="6354762"/>
            <a:ext cx="1219200" cy="366712"/>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5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37" name="Google Shape;37;p50"/>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0"/>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0"/>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0" name="Shape 40"/>
        <p:cNvGrpSpPr/>
        <p:nvPr/>
      </p:nvGrpSpPr>
      <p:grpSpPr>
        <a:xfrm>
          <a:off x="0" y="0"/>
          <a:ext cx="0" cy="0"/>
          <a:chOff x="0" y="0"/>
          <a:chExt cx="0" cy="0"/>
        </a:xfrm>
      </p:grpSpPr>
      <p:sp>
        <p:nvSpPr>
          <p:cNvPr id="41" name="Google Shape;41;p5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1"/>
          <p:cNvSpPr txBox="1"/>
          <p:nvPr>
            <p:ph idx="1" type="body"/>
          </p:nvPr>
        </p:nvSpPr>
        <p:spPr>
          <a:xfrm rot="5400000">
            <a:off x="2116932" y="-440532"/>
            <a:ext cx="4910137" cy="822960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3" name="Google Shape;43;p51"/>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1"/>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1"/>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52"/>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2"/>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49" name="Google Shape;49;p52"/>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0" name="Google Shape;50;p52"/>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1" name="Google Shape;51;p52"/>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2" name="Google Shape;52;p52"/>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2"/>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2"/>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53"/>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3"/>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8" name="Google Shape;58;p53"/>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7"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59" name="Google Shape;59;p53"/>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Gill Sans"/>
                <a:ea typeface="Gill Sans"/>
                <a:cs typeface="Gill Sans"/>
                <a:sym typeface="Gill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3"/>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3"/>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1pPr>
            <a:lvl2pPr indent="0" lvl="1"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2pPr>
            <a:lvl3pPr indent="0" lvl="2"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3pPr>
            <a:lvl4pPr indent="0" lvl="3"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4pPr>
            <a:lvl5pPr indent="0" lvl="4"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5pPr>
            <a:lvl6pPr indent="0" lvl="5"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6pPr>
            <a:lvl7pPr indent="0" lvl="6"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7pPr>
            <a:lvl8pPr indent="0" lvl="7"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8pPr>
            <a:lvl9pPr indent="0" lvl="8" marL="0" marR="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7"/>
          <p:cNvSpPr txBox="1"/>
          <p:nvPr/>
        </p:nvSpPr>
        <p:spPr>
          <a:xfrm>
            <a:off x="904875" y="3648075"/>
            <a:ext cx="7315200" cy="1279525"/>
          </a:xfrm>
          <a:prstGeom prst="rect">
            <a:avLst/>
          </a:prstGeom>
          <a:noFill/>
          <a:ln cap="rnd"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 name="Google Shape;11;p47"/>
          <p:cNvSpPr txBox="1"/>
          <p:nvPr/>
        </p:nvSpPr>
        <p:spPr>
          <a:xfrm>
            <a:off x="914400" y="5048250"/>
            <a:ext cx="7315200" cy="685800"/>
          </a:xfrm>
          <a:prstGeom prst="rect">
            <a:avLst/>
          </a:prstGeom>
          <a:noFill/>
          <a:ln cap="rnd"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 name="Google Shape;12;p47"/>
          <p:cNvSpPr txBox="1"/>
          <p:nvPr/>
        </p:nvSpPr>
        <p:spPr>
          <a:xfrm>
            <a:off x="904875" y="3648075"/>
            <a:ext cx="228600" cy="127952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47"/>
          <p:cNvSpPr txBox="1"/>
          <p:nvPr/>
        </p:nvSpPr>
        <p:spPr>
          <a:xfrm>
            <a:off x="914400" y="5048250"/>
            <a:ext cx="228600" cy="6858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4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1pPr>
            <a:lvl2pPr lvl="1"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2pPr>
            <a:lvl3pPr lvl="2"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3pPr>
            <a:lvl4pPr lvl="3"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4pPr>
            <a:lvl5pPr lvl="4"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5pPr>
            <a:lvl6pPr lvl="5"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6pPr>
            <a:lvl7pPr lvl="6"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7pPr>
            <a:lvl8pPr lvl="7"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8pPr>
            <a:lvl9pPr lvl="8"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9pPr>
          </a:lstStyle>
          <a:p/>
        </p:txBody>
      </p:sp>
      <p:sp>
        <p:nvSpPr>
          <p:cNvPr id="15" name="Google Shape;15;p47"/>
          <p:cNvSpPr txBox="1"/>
          <p:nvPr>
            <p:ph idx="1" type="body"/>
          </p:nvPr>
        </p:nvSpPr>
        <p:spPr>
          <a:xfrm>
            <a:off x="457200" y="1219200"/>
            <a:ext cx="8229600" cy="4910137"/>
          </a:xfrm>
          <a:prstGeom prst="rect">
            <a:avLst/>
          </a:prstGeom>
          <a:noFill/>
          <a:ln>
            <a:noFill/>
          </a:ln>
        </p:spPr>
        <p:txBody>
          <a:bodyPr anchorCtr="0" anchor="t" bIns="45700" lIns="91425" spcFirstLastPara="1" rIns="91425" wrap="square" tIns="45700">
            <a:no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CBCBC"/>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8BA2B4"/>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6" name="Google Shape;16;p47"/>
          <p:cNvSpPr txBox="1"/>
          <p:nvPr>
            <p:ph idx="10" type="dt"/>
          </p:nvPr>
        </p:nvSpPr>
        <p:spPr>
          <a:xfrm>
            <a:off x="6400800" y="6354762"/>
            <a:ext cx="2286000" cy="366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47"/>
          <p:cNvSpPr txBox="1"/>
          <p:nvPr>
            <p:ph idx="11" type="ftr"/>
          </p:nvPr>
        </p:nvSpPr>
        <p:spPr>
          <a:xfrm>
            <a:off x="2898775" y="6354762"/>
            <a:ext cx="3475037" cy="366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47"/>
          <p:cNvSpPr txBox="1"/>
          <p:nvPr>
            <p:ph idx="12" type="sldNum"/>
          </p:nvPr>
        </p:nvSpPr>
        <p:spPr>
          <a:xfrm>
            <a:off x="1216025" y="6354762"/>
            <a:ext cx="1219200" cy="366712"/>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sp>
        <p:nvSpPr>
          <p:cNvPr id="26" name="Google Shape;26;p4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1pPr>
            <a:lvl2pPr lvl="1"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2pPr>
            <a:lvl3pPr lvl="2"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3pPr>
            <a:lvl4pPr lvl="3"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4pPr>
            <a:lvl5pPr lvl="4"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5pPr>
            <a:lvl6pPr lvl="5"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6pPr>
            <a:lvl7pPr lvl="6"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7pPr>
            <a:lvl8pPr lvl="7"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8pPr>
            <a:lvl9pPr lvl="8"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9pPr>
          </a:lstStyle>
          <a:p/>
        </p:txBody>
      </p:sp>
      <p:sp>
        <p:nvSpPr>
          <p:cNvPr id="27" name="Google Shape;27;p49"/>
          <p:cNvSpPr txBox="1"/>
          <p:nvPr>
            <p:ph idx="1" type="body"/>
          </p:nvPr>
        </p:nvSpPr>
        <p:spPr>
          <a:xfrm>
            <a:off x="457200" y="1219200"/>
            <a:ext cx="8229600" cy="4910137"/>
          </a:xfrm>
          <a:prstGeom prst="rect">
            <a:avLst/>
          </a:prstGeom>
          <a:noFill/>
          <a:ln>
            <a:noFill/>
          </a:ln>
        </p:spPr>
        <p:txBody>
          <a:bodyPr anchorCtr="0" anchor="t" bIns="45700" lIns="91425" spcFirstLastPara="1" rIns="91425" wrap="square" tIns="45700">
            <a:no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7"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19" lvl="2" marL="1371600" marR="0" rtl="0" algn="l">
              <a:spcBef>
                <a:spcPts val="500"/>
              </a:spcBef>
              <a:spcAft>
                <a:spcPts val="0"/>
              </a:spcAft>
              <a:buClr>
                <a:srgbClr val="BCBCBC"/>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8BA2B4"/>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28" name="Google Shape;28;p49"/>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chemeClr val="dk2"/>
                </a:solidFill>
                <a:latin typeface="Gill Sans"/>
                <a:ea typeface="Gill Sans"/>
                <a:cs typeface="Gill Sans"/>
                <a:sym typeface="Gill Sans"/>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49"/>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0" name="Google Shape;30;p49"/>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1pPr>
            <a:lvl2pPr indent="0" lvl="1"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2pPr>
            <a:lvl3pPr indent="0" lvl="2"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3pPr>
            <a:lvl4pPr indent="0" lvl="3"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4pPr>
            <a:lvl5pPr indent="0" lvl="4"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5pPr>
            <a:lvl6pPr indent="0" lvl="5"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6pPr>
            <a:lvl7pPr indent="0" lvl="6"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7pPr>
            <a:lvl8pPr indent="0" lvl="7"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8pPr>
            <a:lvl9pPr indent="0" lvl="8" marL="0" marR="0" rtl="0" algn="l">
              <a:lnSpc>
                <a:spcPct val="100000"/>
              </a:lnSpc>
              <a:spcBef>
                <a:spcPts val="0"/>
              </a:spcBef>
              <a:spcAft>
                <a:spcPts val="0"/>
              </a:spcAft>
              <a:buClr>
                <a:schemeClr val="dk2"/>
              </a:buClr>
              <a:buSzPts val="1400"/>
              <a:buFont typeface="Gill Sans"/>
              <a:buNone/>
              <a:defRPr b="0" i="0" sz="1400" u="none">
                <a:solidFill>
                  <a:schemeClr val="dk2"/>
                </a:solidFill>
                <a:latin typeface="Gill Sans"/>
                <a:ea typeface="Gill Sans"/>
                <a:cs typeface="Gill Sans"/>
                <a:sym typeface="Gill Sans"/>
              </a:defRPr>
            </a:lvl9pPr>
          </a:lstStyle>
          <a:p>
            <a:pPr indent="0" lvl="0" marL="0" rtl="0" algn="l">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cxnSp>
        <p:nvCxnSpPr>
          <p:cNvPr id="31" name="Google Shape;31;p49"/>
          <p:cNvCxnSpPr/>
          <p:nvPr/>
        </p:nvCxnSpPr>
        <p:spPr>
          <a:xfrm>
            <a:off x="457200" y="6353175"/>
            <a:ext cx="8229600" cy="0"/>
          </a:xfrm>
          <a:prstGeom prst="straightConnector1">
            <a:avLst/>
          </a:prstGeom>
          <a:noFill/>
          <a:ln cap="flat" cmpd="sng" w="9525">
            <a:solidFill>
              <a:schemeClr val="accent2"/>
            </a:solidFill>
            <a:prstDash val="solid"/>
            <a:miter lim="800000"/>
            <a:headEnd len="med" w="med" type="none"/>
            <a:tailEnd len="med" w="med" type="none"/>
          </a:ln>
        </p:spPr>
      </p:cxnSp>
      <p:cxnSp>
        <p:nvCxnSpPr>
          <p:cNvPr id="32" name="Google Shape;32;p49"/>
          <p:cNvCxnSpPr/>
          <p:nvPr/>
        </p:nvCxnSpPr>
        <p:spPr>
          <a:xfrm>
            <a:off x="457200" y="1143000"/>
            <a:ext cx="8229600" cy="0"/>
          </a:xfrm>
          <a:prstGeom prst="straightConnector1">
            <a:avLst/>
          </a:prstGeom>
          <a:noFill/>
          <a:ln cap="flat" cmpd="sng" w="9525">
            <a:solidFill>
              <a:schemeClr val="accent2"/>
            </a:solidFill>
            <a:prstDash val="solid"/>
            <a:miter lim="800000"/>
            <a:headEnd len="med" w="med" type="none"/>
            <a:tailEnd len="med" w="med" type="none"/>
          </a:ln>
        </p:spPr>
      </p:cxnSp>
      <p:sp>
        <p:nvSpPr>
          <p:cNvPr id="33" name="Google Shape;33;p49"/>
          <p:cNvSpPr/>
          <p:nvPr/>
        </p:nvSpPr>
        <p:spPr>
          <a:xfrm rot="5400000">
            <a:off x="419100" y="6467475"/>
            <a:ext cx="190500" cy="120650"/>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deepak.kth@gmail.com"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
          <p:cNvSpPr txBox="1"/>
          <p:nvPr>
            <p:ph type="ctrTitle"/>
          </p:nvPr>
        </p:nvSpPr>
        <p:spPr>
          <a:xfrm>
            <a:off x="685800" y="457200"/>
            <a:ext cx="7772400" cy="1470025"/>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Clr>
                <a:schemeClr val="dk1"/>
              </a:buClr>
              <a:buSzPts val="3200"/>
              <a:buFont typeface="Bookman Old Style"/>
              <a:buNone/>
            </a:pPr>
            <a:r>
              <a:rPr b="0" i="0" lang="en-US" sz="3200" u="none">
                <a:solidFill>
                  <a:schemeClr val="dk1"/>
                </a:solidFill>
                <a:latin typeface="Bookman Old Style"/>
                <a:ea typeface="Bookman Old Style"/>
                <a:cs typeface="Bookman Old Style"/>
                <a:sym typeface="Bookman Old Style"/>
              </a:rPr>
              <a:t>Introduction to IT Project Management and Entrepreneurship</a:t>
            </a:r>
            <a:endParaRPr/>
          </a:p>
        </p:txBody>
      </p:sp>
      <p:sp>
        <p:nvSpPr>
          <p:cNvPr id="69" name="Google Shape;69;p1"/>
          <p:cNvSpPr txBox="1"/>
          <p:nvPr>
            <p:ph idx="1" type="subTitle"/>
          </p:nvPr>
        </p:nvSpPr>
        <p:spPr>
          <a:xfrm>
            <a:off x="1752600" y="3743325"/>
            <a:ext cx="6400800" cy="1066800"/>
          </a:xfrm>
          <a:prstGeom prst="rect">
            <a:avLst/>
          </a:prstGeom>
          <a:noFill/>
          <a:ln>
            <a:noFill/>
          </a:ln>
        </p:spPr>
        <p:txBody>
          <a:bodyPr anchorCtr="0" anchor="t" bIns="45700" lIns="91425" spcFirstLastPara="1" rIns="91425" wrap="square" tIns="45700">
            <a:normAutofit/>
          </a:bodyPr>
          <a:lstStyle/>
          <a:p>
            <a:pPr indent="0" lvl="0" marL="0" rtl="0" algn="r">
              <a:lnSpc>
                <a:spcPct val="80000"/>
              </a:lnSpc>
              <a:spcBef>
                <a:spcPts val="0"/>
              </a:spcBef>
              <a:spcAft>
                <a:spcPts val="0"/>
              </a:spcAft>
              <a:buSzPts val="1064"/>
              <a:buNone/>
            </a:pPr>
            <a:r>
              <a:rPr b="0" i="0" lang="en-US" sz="1400" u="none">
                <a:solidFill>
                  <a:schemeClr val="dk2"/>
                </a:solidFill>
                <a:latin typeface="Bookman Old Style"/>
                <a:ea typeface="Bookman Old Style"/>
                <a:cs typeface="Bookman Old Style"/>
                <a:sym typeface="Bookman Old Style"/>
              </a:rPr>
              <a:t>Deepak Chandra Roy</a:t>
            </a:r>
            <a:endParaRPr/>
          </a:p>
          <a:p>
            <a:pPr indent="0" lvl="0" marL="0" rtl="0" algn="r">
              <a:lnSpc>
                <a:spcPct val="80000"/>
              </a:lnSpc>
              <a:spcBef>
                <a:spcPts val="600"/>
              </a:spcBef>
              <a:spcAft>
                <a:spcPts val="0"/>
              </a:spcAft>
              <a:buSzPts val="1064"/>
              <a:buNone/>
            </a:pPr>
            <a:r>
              <a:rPr b="0" i="0" lang="en-US" sz="1400" u="none">
                <a:solidFill>
                  <a:schemeClr val="dk2"/>
                </a:solidFill>
                <a:latin typeface="Bookman Old Style"/>
                <a:ea typeface="Bookman Old Style"/>
                <a:cs typeface="Bookman Old Style"/>
                <a:sym typeface="Bookman Old Style"/>
              </a:rPr>
              <a:t>Adjunct Faculty, CSE, EWU</a:t>
            </a:r>
            <a:endParaRPr/>
          </a:p>
          <a:p>
            <a:pPr indent="0" lvl="0" marL="0" rtl="0" algn="r">
              <a:lnSpc>
                <a:spcPct val="80000"/>
              </a:lnSpc>
              <a:spcBef>
                <a:spcPts val="600"/>
              </a:spcBef>
              <a:spcAft>
                <a:spcPts val="0"/>
              </a:spcAft>
              <a:buSzPts val="1064"/>
              <a:buNone/>
            </a:pPr>
            <a:r>
              <a:rPr b="0" i="0" lang="en-US" sz="1400" u="sng">
                <a:solidFill>
                  <a:schemeClr val="dk2"/>
                </a:solidFill>
                <a:hlinkClick r:id="rId3">
                  <a:extLst>
                    <a:ext uri="{A12FA001-AC4F-418D-AE19-62706E023703}">
                      <ahyp:hlinkClr val="tx"/>
                    </a:ext>
                  </a:extLst>
                </a:hlinkClick>
              </a:rPr>
              <a:t>deepak.kth@gmail.com</a:t>
            </a:r>
            <a:endParaRPr/>
          </a:p>
          <a:p>
            <a:pPr indent="0" lvl="0" marL="0" rtl="0" algn="r">
              <a:lnSpc>
                <a:spcPct val="80000"/>
              </a:lnSpc>
              <a:spcBef>
                <a:spcPts val="600"/>
              </a:spcBef>
              <a:spcAft>
                <a:spcPts val="0"/>
              </a:spcAft>
              <a:buSzPts val="1064"/>
              <a:buNone/>
            </a:pPr>
            <a:r>
              <a:rPr b="0" i="0" lang="en-US" sz="1400" u="none">
                <a:solidFill>
                  <a:schemeClr val="dk2"/>
                </a:solidFill>
                <a:latin typeface="Bookman Old Style"/>
                <a:ea typeface="Bookman Old Style"/>
                <a:cs typeface="Bookman Old Style"/>
                <a:sym typeface="Bookman Old Style"/>
              </a:rPr>
              <a:t>01685441156</a:t>
            </a:r>
            <a:endParaRPr/>
          </a:p>
        </p:txBody>
      </p:sp>
      <p:sp>
        <p:nvSpPr>
          <p:cNvPr id="70" name="Google Shape;70;p1"/>
          <p:cNvSpPr txBox="1"/>
          <p:nvPr/>
        </p:nvSpPr>
        <p:spPr>
          <a:xfrm>
            <a:off x="6400800" y="6354762"/>
            <a:ext cx="22860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Gill Sans"/>
              <a:buNone/>
            </a:pPr>
            <a:r>
              <a:rPr b="0" i="0" lang="en-US" sz="1400" u="none">
                <a:solidFill>
                  <a:schemeClr val="dk2"/>
                </a:solidFill>
                <a:latin typeface="Gill Sans"/>
                <a:ea typeface="Gill Sans"/>
                <a:cs typeface="Gill Sans"/>
                <a:sym typeface="Gill Sans"/>
              </a:rPr>
              <a:t>*</a:t>
            </a:r>
            <a:endParaRPr/>
          </a:p>
        </p:txBody>
      </p:sp>
      <p:sp>
        <p:nvSpPr>
          <p:cNvPr id="71" name="Google Shape;71;p1"/>
          <p:cNvSpPr txBox="1"/>
          <p:nvPr/>
        </p:nvSpPr>
        <p:spPr>
          <a:xfrm>
            <a:off x="2898775" y="6354762"/>
            <a:ext cx="3475037" cy="366712"/>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Gill Sans"/>
              <a:buNone/>
            </a:pPr>
            <a:r>
              <a:rPr b="0" i="0" lang="en-US" sz="1400" u="none">
                <a:solidFill>
                  <a:schemeClr val="dk2"/>
                </a:solidFill>
                <a:latin typeface="Gill Sans"/>
                <a:ea typeface="Gill Sans"/>
                <a:cs typeface="Gill Sans"/>
                <a:sym typeface="Gill Sans"/>
              </a:rPr>
              <a:t>CSE-495, Section# 3</a:t>
            </a:r>
            <a:endParaRPr/>
          </a:p>
        </p:txBody>
      </p:sp>
      <p:sp>
        <p:nvSpPr>
          <p:cNvPr id="72" name="Google Shape;72;p1"/>
          <p:cNvSpPr txBox="1"/>
          <p:nvPr/>
        </p:nvSpPr>
        <p:spPr>
          <a:xfrm>
            <a:off x="1216025" y="6354762"/>
            <a:ext cx="1219200" cy="3667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Gill Sans"/>
              <a:buNone/>
            </a:pPr>
            <a:fld id="{00000000-1234-1234-1234-123412341234}" type="slidenum">
              <a:rPr b="0" i="0" lang="en-US" sz="1400" u="none">
                <a:solidFill>
                  <a:schemeClr val="dk2"/>
                </a:solidFill>
                <a:latin typeface="Gill Sans"/>
                <a:ea typeface="Gill Sans"/>
                <a:cs typeface="Gill Sans"/>
                <a:sym typeface="Gill Sans"/>
              </a:rPr>
              <a:t>‹#›</a:t>
            </a:fld>
            <a:endParaRPr/>
          </a:p>
        </p:txBody>
      </p:sp>
      <p:pic>
        <p:nvPicPr>
          <p:cNvPr descr="ewu.jpg" id="73" name="Google Shape;73;p1"/>
          <p:cNvPicPr preferRelativeResize="0"/>
          <p:nvPr/>
        </p:nvPicPr>
        <p:blipFill rotWithShape="1">
          <a:blip r:embed="rId4">
            <a:alphaModFix/>
          </a:blip>
          <a:srcRect b="0" l="0" r="0" t="0"/>
          <a:stretch/>
        </p:blipFill>
        <p:spPr>
          <a:xfrm>
            <a:off x="6248400" y="1905000"/>
            <a:ext cx="2257425" cy="1482725"/>
          </a:xfrm>
          <a:prstGeom prst="rect">
            <a:avLst/>
          </a:prstGeom>
          <a:noFill/>
          <a:ln>
            <a:noFill/>
          </a:ln>
        </p:spPr>
      </p:pic>
      <p:sp>
        <p:nvSpPr>
          <p:cNvPr id="74" name="Google Shape;74;p1"/>
          <p:cNvSpPr txBox="1"/>
          <p:nvPr/>
        </p:nvSpPr>
        <p:spPr>
          <a:xfrm>
            <a:off x="3733800" y="1981200"/>
            <a:ext cx="1871662"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F7F7F"/>
              </a:buClr>
              <a:buSzPts val="2800"/>
              <a:buFont typeface="Comic Sans MS"/>
              <a:buNone/>
            </a:pPr>
            <a:r>
              <a:rPr b="1" i="0" lang="en-US" sz="2800" u="none">
                <a:solidFill>
                  <a:srgbClr val="7F7F7F"/>
                </a:solidFill>
                <a:latin typeface="Comic Sans MS"/>
                <a:ea typeface="Comic Sans MS"/>
                <a:cs typeface="Comic Sans MS"/>
                <a:sym typeface="Comic Sans MS"/>
              </a:rPr>
              <a:t>Lecture 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Agenda</a:t>
            </a:r>
            <a:endParaRPr/>
          </a:p>
        </p:txBody>
      </p:sp>
      <p:sp>
        <p:nvSpPr>
          <p:cNvPr id="80" name="Google Shape;80;p2"/>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cap="none" strike="noStrike">
                <a:solidFill>
                  <a:schemeClr val="dk1"/>
                </a:solidFill>
                <a:latin typeface="Gill Sans"/>
                <a:ea typeface="Gill Sans"/>
                <a:cs typeface="Gill Sans"/>
                <a:sym typeface="Gill Sans"/>
              </a:rPr>
              <a:t>Software Costing</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3"/>
          <p:cNvSpPr txBox="1"/>
          <p:nvPr>
            <p:ph type="title"/>
          </p:nvPr>
        </p:nvSpPr>
        <p:spPr>
          <a:xfrm>
            <a:off x="533400" y="228600"/>
            <a:ext cx="8229600" cy="79216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Costing</a:t>
            </a:r>
            <a:endParaRPr/>
          </a:p>
        </p:txBody>
      </p:sp>
      <p:sp>
        <p:nvSpPr>
          <p:cNvPr id="87" name="Google Shape;87;p3"/>
          <p:cNvSpPr txBox="1"/>
          <p:nvPr>
            <p:ph idx="1" type="body"/>
          </p:nvPr>
        </p:nvSpPr>
        <p:spPr>
          <a:xfrm>
            <a:off x="381000" y="1066800"/>
            <a:ext cx="8229600" cy="55626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Profit margin is a financial metric that represents the percentage of revenue that exceeds the costs associated with producing and delivering a product or service. It is a key indicator of a company's profitability and is expressed as a percentage. The profit margin is calculated by dividing the net profit by the total revenue and multiplying by 100 to express it as a percentage.</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There are three different types of profit margins: </a:t>
            </a:r>
            <a:endParaRPr/>
          </a:p>
          <a:p>
            <a:pPr indent="-273049" lvl="1" marL="547687" marR="0" rtl="0" algn="l">
              <a:lnSpc>
                <a:spcPct val="100000"/>
              </a:lnSpc>
              <a:spcBef>
                <a:spcPts val="500"/>
              </a:spcBef>
              <a:spcAft>
                <a:spcPts val="0"/>
              </a:spcAft>
              <a:buClr>
                <a:schemeClr val="accent2"/>
              </a:buClr>
              <a:buSzPts val="1748"/>
              <a:buFont typeface="Noto Sans Symbols"/>
              <a:buChar char="🞂"/>
            </a:pPr>
            <a:r>
              <a:rPr b="0" i="0" lang="en-US" sz="2300" u="none" cap="none" strike="noStrike">
                <a:solidFill>
                  <a:schemeClr val="dk2"/>
                </a:solidFill>
                <a:latin typeface="Gill Sans"/>
                <a:ea typeface="Gill Sans"/>
                <a:cs typeface="Gill Sans"/>
                <a:sym typeface="Gill Sans"/>
              </a:rPr>
              <a:t>	Gross profit margins</a:t>
            </a:r>
            <a:endParaRPr/>
          </a:p>
          <a:p>
            <a:pPr indent="-273049" lvl="1" marL="547687" marR="0" rtl="0" algn="l">
              <a:lnSpc>
                <a:spcPct val="100000"/>
              </a:lnSpc>
              <a:spcBef>
                <a:spcPts val="500"/>
              </a:spcBef>
              <a:spcAft>
                <a:spcPts val="0"/>
              </a:spcAft>
              <a:buClr>
                <a:schemeClr val="accent2"/>
              </a:buClr>
              <a:buSzPts val="1748"/>
              <a:buFont typeface="Noto Sans Symbols"/>
              <a:buChar char="🞂"/>
            </a:pPr>
            <a:r>
              <a:rPr b="0" i="0" lang="en-US" sz="2300" u="none" cap="none" strike="noStrike">
                <a:solidFill>
                  <a:schemeClr val="dk2"/>
                </a:solidFill>
                <a:latin typeface="Gill Sans"/>
                <a:ea typeface="Gill Sans"/>
                <a:cs typeface="Gill Sans"/>
                <a:sym typeface="Gill Sans"/>
              </a:rPr>
              <a:t>	Operating profit margins</a:t>
            </a:r>
            <a:endParaRPr/>
          </a:p>
          <a:p>
            <a:pPr indent="-273049" lvl="1" marL="547687" marR="0" rtl="0" algn="l">
              <a:lnSpc>
                <a:spcPct val="100000"/>
              </a:lnSpc>
              <a:spcBef>
                <a:spcPts val="500"/>
              </a:spcBef>
              <a:spcAft>
                <a:spcPts val="0"/>
              </a:spcAft>
              <a:buClr>
                <a:schemeClr val="accent2"/>
              </a:buClr>
              <a:buSzPts val="1748"/>
              <a:buFont typeface="Noto Sans Symbols"/>
              <a:buChar char="🞂"/>
            </a:pPr>
            <a:r>
              <a:rPr b="0" i="0" lang="en-US" sz="2300" u="none" cap="none" strike="noStrike">
                <a:solidFill>
                  <a:schemeClr val="dk2"/>
                </a:solidFill>
                <a:latin typeface="Gill Sans"/>
                <a:ea typeface="Gill Sans"/>
                <a:cs typeface="Gill Sans"/>
                <a:sym typeface="Gill Sans"/>
              </a:rPr>
              <a:t>	Net profit margins</a:t>
            </a:r>
            <a:endParaRPr/>
          </a:p>
          <a:p>
            <a:pPr indent="-162052" lvl="0" marL="273050" marR="0" rtl="0" algn="l">
              <a:spcBef>
                <a:spcPts val="600"/>
              </a:spcBef>
              <a:spcAft>
                <a:spcPts val="0"/>
              </a:spcAft>
              <a:buClr>
                <a:schemeClr val="accent1"/>
              </a:buClr>
              <a:buSzPts val="1748"/>
              <a:buFont typeface="Noto Sans Symbols"/>
              <a:buNone/>
            </a:pPr>
            <a:r>
              <a:t/>
            </a:r>
            <a:endParaRPr b="0" i="0" sz="2300" u="none" cap="none" strike="noStrike">
              <a:solidFill>
                <a:schemeClr val="dk2"/>
              </a:solidFill>
              <a:latin typeface="Gill Sans"/>
              <a:ea typeface="Gill Sans"/>
              <a:cs typeface="Gill Sans"/>
              <a:sym typeface="Gill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Costing cont..</a:t>
            </a:r>
            <a:endParaRPr/>
          </a:p>
        </p:txBody>
      </p:sp>
      <p:pic>
        <p:nvPicPr>
          <p:cNvPr id="94" name="Google Shape;94;p4"/>
          <p:cNvPicPr preferRelativeResize="0"/>
          <p:nvPr>
            <p:ph idx="1" type="body"/>
          </p:nvPr>
        </p:nvPicPr>
        <p:blipFill rotWithShape="1">
          <a:blip r:embed="rId3">
            <a:alphaModFix/>
          </a:blip>
          <a:srcRect b="0" l="0" r="0" t="0"/>
          <a:stretch/>
        </p:blipFill>
        <p:spPr>
          <a:xfrm>
            <a:off x="228600" y="1447800"/>
            <a:ext cx="3994150" cy="4937125"/>
          </a:xfrm>
          <a:prstGeom prst="rect">
            <a:avLst/>
          </a:prstGeom>
          <a:noFill/>
          <a:ln>
            <a:noFill/>
          </a:ln>
        </p:spPr>
      </p:pic>
      <p:pic>
        <p:nvPicPr>
          <p:cNvPr id="95" name="Google Shape;95;p4"/>
          <p:cNvPicPr preferRelativeResize="0"/>
          <p:nvPr/>
        </p:nvPicPr>
        <p:blipFill rotWithShape="1">
          <a:blip r:embed="rId4">
            <a:alphaModFix/>
          </a:blip>
          <a:srcRect b="0" l="0" r="0" t="0"/>
          <a:stretch/>
        </p:blipFill>
        <p:spPr>
          <a:xfrm>
            <a:off x="4419600" y="1371600"/>
            <a:ext cx="4371975" cy="5010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txBox="1"/>
          <p:nvPr>
            <p:ph idx="1" type="body"/>
          </p:nvPr>
        </p:nvSpPr>
        <p:spPr>
          <a:xfrm>
            <a:off x="457200" y="1295400"/>
            <a:ext cx="8458200" cy="49530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Gross Profit Margin:</a:t>
            </a:r>
            <a:endParaRPr b="0" i="0" sz="2600" u="none">
              <a:solidFill>
                <a:schemeClr val="dk1"/>
              </a:solidFill>
              <a:latin typeface="Gill Sans"/>
              <a:ea typeface="Gill Sans"/>
              <a:cs typeface="Gill Sans"/>
              <a:sym typeface="Gill Sans"/>
            </a:endParaRPr>
          </a:p>
          <a:p>
            <a:pPr indent="-273049" lvl="1" marL="547687" marR="0" rtl="0" algn="l">
              <a:lnSpc>
                <a:spcPct val="100000"/>
              </a:lnSpc>
              <a:spcBef>
                <a:spcPts val="500"/>
              </a:spcBef>
              <a:spcAft>
                <a:spcPts val="0"/>
              </a:spcAft>
              <a:buClr>
                <a:schemeClr val="accent2"/>
              </a:buClr>
              <a:buSzPts val="1748"/>
              <a:buFont typeface="Noto Sans Symbols"/>
              <a:buChar char="🞂"/>
            </a:pPr>
            <a:r>
              <a:rPr b="0" i="0" lang="en-US" sz="2300" u="none" cap="none" strike="noStrike">
                <a:solidFill>
                  <a:schemeClr val="dk2"/>
                </a:solidFill>
                <a:latin typeface="Gill Sans"/>
                <a:ea typeface="Gill Sans"/>
                <a:cs typeface="Gill Sans"/>
                <a:sym typeface="Gill Sans"/>
              </a:rPr>
              <a:t>Calculates the percentage of revenue that exceeds the cost of goods sold (COGS).</a:t>
            </a:r>
            <a:endParaRPr/>
          </a:p>
          <a:p>
            <a:pPr indent="-162051" lvl="1" marL="547687" marR="0" rtl="0" algn="l">
              <a:lnSpc>
                <a:spcPct val="100000"/>
              </a:lnSpc>
              <a:spcBef>
                <a:spcPts val="500"/>
              </a:spcBef>
              <a:spcAft>
                <a:spcPts val="0"/>
              </a:spcAft>
              <a:buClr>
                <a:schemeClr val="accent2"/>
              </a:buClr>
              <a:buSzPts val="1748"/>
              <a:buFont typeface="Noto Sans Symbols"/>
              <a:buNone/>
            </a:pPr>
            <a:r>
              <a:t/>
            </a:r>
            <a:endParaRPr b="0" i="0" sz="2300" u="none" cap="none" strike="noStrike">
              <a:solidFill>
                <a:schemeClr val="dk2"/>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1"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1"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Operating Profit Margin:</a:t>
            </a:r>
            <a:endParaRPr b="0" i="0" sz="2600" u="none">
              <a:solidFill>
                <a:schemeClr val="dk1"/>
              </a:solidFill>
              <a:latin typeface="Gill Sans"/>
              <a:ea typeface="Gill Sans"/>
              <a:cs typeface="Gill Sans"/>
              <a:sym typeface="Gill Sans"/>
            </a:endParaRPr>
          </a:p>
          <a:p>
            <a:pPr indent="-273049" lvl="1" marL="547687" marR="0" rtl="0" algn="l">
              <a:lnSpc>
                <a:spcPct val="100000"/>
              </a:lnSpc>
              <a:spcBef>
                <a:spcPts val="500"/>
              </a:spcBef>
              <a:spcAft>
                <a:spcPts val="0"/>
              </a:spcAft>
              <a:buClr>
                <a:schemeClr val="accent2"/>
              </a:buClr>
              <a:buSzPts val="1748"/>
              <a:buFont typeface="Noto Sans Symbols"/>
              <a:buChar char="🞂"/>
            </a:pPr>
            <a:r>
              <a:rPr b="0" i="0" lang="en-US" sz="2300" u="none" cap="none" strike="noStrike">
                <a:solidFill>
                  <a:schemeClr val="dk2"/>
                </a:solidFill>
                <a:latin typeface="Gill Sans"/>
                <a:ea typeface="Gill Sans"/>
                <a:cs typeface="Gill Sans"/>
                <a:sym typeface="Gill Sans"/>
              </a:rPr>
              <a:t>Reflects the percentage of revenue that remains after deducting operating expenses.</a:t>
            </a:r>
            <a:endParaRPr/>
          </a:p>
          <a:p>
            <a:pPr indent="-162051" lvl="1" marL="547687" marR="0" rtl="0" algn="l">
              <a:lnSpc>
                <a:spcPct val="100000"/>
              </a:lnSpc>
              <a:spcBef>
                <a:spcPts val="500"/>
              </a:spcBef>
              <a:spcAft>
                <a:spcPts val="0"/>
              </a:spcAft>
              <a:buClr>
                <a:schemeClr val="accent2"/>
              </a:buClr>
              <a:buSzPts val="1748"/>
              <a:buFont typeface="Noto Sans Symbols"/>
              <a:buNone/>
            </a:pPr>
            <a:r>
              <a:t/>
            </a:r>
            <a:endParaRPr b="0" i="0" sz="2300" u="none" cap="none" strike="noStrike">
              <a:solidFill>
                <a:schemeClr val="dk2"/>
              </a:solidFill>
              <a:latin typeface="Gill Sans"/>
              <a:ea typeface="Gill Sans"/>
              <a:cs typeface="Gill Sans"/>
              <a:sym typeface="Gill Sans"/>
            </a:endParaRPr>
          </a:p>
          <a:p>
            <a:pPr indent="-162051" lvl="1" marL="547687" marR="0" rtl="0" algn="l">
              <a:lnSpc>
                <a:spcPct val="100000"/>
              </a:lnSpc>
              <a:spcBef>
                <a:spcPts val="500"/>
              </a:spcBef>
              <a:spcAft>
                <a:spcPts val="0"/>
              </a:spcAft>
              <a:buClr>
                <a:schemeClr val="accent2"/>
              </a:buClr>
              <a:buSzPts val="1748"/>
              <a:buFont typeface="Noto Sans Symbols"/>
              <a:buNone/>
            </a:pPr>
            <a:r>
              <a:t/>
            </a:r>
            <a:endParaRPr b="0" i="0" sz="2300" u="none" cap="none" strike="noStrike">
              <a:solidFill>
                <a:schemeClr val="dk2"/>
              </a:solidFill>
              <a:latin typeface="Gill Sans"/>
              <a:ea typeface="Gill Sans"/>
              <a:cs typeface="Gill Sans"/>
              <a:sym typeface="Gill Sans"/>
            </a:endParaRPr>
          </a:p>
          <a:p>
            <a:pPr indent="-162052" lvl="0" marL="273050" marR="0" rtl="0" algn="l">
              <a:spcBef>
                <a:spcPts val="600"/>
              </a:spcBef>
              <a:spcAft>
                <a:spcPts val="0"/>
              </a:spcAft>
              <a:buClr>
                <a:schemeClr val="accent1"/>
              </a:buClr>
              <a:buSzPts val="1748"/>
              <a:buFont typeface="Noto Sans Symbols"/>
              <a:buNone/>
            </a:pPr>
            <a:r>
              <a:t/>
            </a:r>
            <a:endParaRPr b="0" i="0" sz="2300" u="none" cap="none" strike="noStrike">
              <a:solidFill>
                <a:schemeClr val="dk2"/>
              </a:solidFill>
              <a:latin typeface="Gill Sans"/>
              <a:ea typeface="Gill Sans"/>
              <a:cs typeface="Gill Sans"/>
              <a:sym typeface="Gill Sans"/>
            </a:endParaRPr>
          </a:p>
        </p:txBody>
      </p:sp>
      <p:pic>
        <p:nvPicPr>
          <p:cNvPr id="101" name="Google Shape;101;p5"/>
          <p:cNvPicPr preferRelativeResize="0"/>
          <p:nvPr/>
        </p:nvPicPr>
        <p:blipFill rotWithShape="1">
          <a:blip r:embed="rId3">
            <a:alphaModFix/>
          </a:blip>
          <a:srcRect b="0" l="0" r="0" t="0"/>
          <a:stretch/>
        </p:blipFill>
        <p:spPr>
          <a:xfrm>
            <a:off x="4724400" y="5029200"/>
            <a:ext cx="3095625" cy="1066800"/>
          </a:xfrm>
          <a:prstGeom prst="rect">
            <a:avLst/>
          </a:prstGeom>
          <a:noFill/>
          <a:ln>
            <a:noFill/>
          </a:ln>
        </p:spPr>
      </p:pic>
      <p:pic>
        <p:nvPicPr>
          <p:cNvPr id="102" name="Google Shape;102;p5"/>
          <p:cNvPicPr preferRelativeResize="0"/>
          <p:nvPr/>
        </p:nvPicPr>
        <p:blipFill rotWithShape="1">
          <a:blip r:embed="rId4">
            <a:alphaModFix/>
          </a:blip>
          <a:srcRect b="0" l="0" r="0" t="0"/>
          <a:stretch/>
        </p:blipFill>
        <p:spPr>
          <a:xfrm>
            <a:off x="4724400" y="2581275"/>
            <a:ext cx="3067050" cy="1076325"/>
          </a:xfrm>
          <a:prstGeom prst="rect">
            <a:avLst/>
          </a:prstGeom>
          <a:noFill/>
          <a:ln>
            <a:noFill/>
          </a:ln>
        </p:spPr>
      </p:pic>
      <p:sp>
        <p:nvSpPr>
          <p:cNvPr id="103" name="Google Shape;103;p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Costing cont..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6"/>
          <p:cNvSpPr txBox="1"/>
          <p:nvPr>
            <p:ph idx="1" type="body"/>
          </p:nvPr>
        </p:nvSpPr>
        <p:spPr>
          <a:xfrm>
            <a:off x="457200" y="762000"/>
            <a:ext cx="8458200" cy="6096000"/>
          </a:xfrm>
          <a:prstGeom prst="rect">
            <a:avLst/>
          </a:prstGeom>
          <a:noFill/>
          <a:ln>
            <a:noFill/>
          </a:ln>
        </p:spPr>
        <p:txBody>
          <a:bodyPr anchorCtr="0" anchor="t" bIns="45700" lIns="91425" spcFirstLastPara="1" rIns="91425" wrap="square" tIns="45700">
            <a:noAutofit/>
          </a:bodyPr>
          <a:lstStyle/>
          <a:p>
            <a:pPr indent="-162051" lvl="1" marL="547687" marR="0" rtl="0" algn="l">
              <a:lnSpc>
                <a:spcPct val="100000"/>
              </a:lnSpc>
              <a:spcBef>
                <a:spcPts val="0"/>
              </a:spcBef>
              <a:spcAft>
                <a:spcPts val="0"/>
              </a:spcAft>
              <a:buClr>
                <a:schemeClr val="accent2"/>
              </a:buClr>
              <a:buSzPts val="1748"/>
              <a:buFont typeface="Noto Sans Symbols"/>
              <a:buNone/>
            </a:pPr>
            <a:r>
              <a:t/>
            </a:r>
            <a:endParaRPr b="0" i="0" sz="2300" u="none" cap="none" strike="noStrike">
              <a:solidFill>
                <a:schemeClr val="dk2"/>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Net Profit Margin:</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pic>
        <p:nvPicPr>
          <p:cNvPr id="109" name="Google Shape;109;p6"/>
          <p:cNvPicPr preferRelativeResize="0"/>
          <p:nvPr/>
        </p:nvPicPr>
        <p:blipFill rotWithShape="1">
          <a:blip r:embed="rId3">
            <a:alphaModFix/>
          </a:blip>
          <a:srcRect b="0" l="0" r="0" t="0"/>
          <a:stretch/>
        </p:blipFill>
        <p:spPr>
          <a:xfrm>
            <a:off x="533400" y="1981200"/>
            <a:ext cx="4876800" cy="3952875"/>
          </a:xfrm>
          <a:prstGeom prst="rect">
            <a:avLst/>
          </a:prstGeom>
          <a:noFill/>
          <a:ln>
            <a:noFill/>
          </a:ln>
        </p:spPr>
      </p:pic>
      <p:sp>
        <p:nvSpPr>
          <p:cNvPr id="110" name="Google Shape;110;p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Costing cont..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Software Costing</a:t>
            </a:r>
            <a:endParaRPr/>
          </a:p>
        </p:txBody>
      </p:sp>
      <p:sp>
        <p:nvSpPr>
          <p:cNvPr id="116" name="Google Shape;116;p7"/>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Software costing involves estimating and determining the expenses associated with developing, deploying, and maintaining software throughout its lifecycle. Properly understanding and managing software costs is crucial for budgeting, resource allocation, and project planning.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2"/>
              </a:buClr>
              <a:buSzPts val="2900"/>
              <a:buFont typeface="Bookman Old Style"/>
              <a:buNone/>
            </a:pPr>
            <a:r>
              <a:rPr b="0" i="0" lang="en-US" sz="2900" u="none">
                <a:solidFill>
                  <a:schemeClr val="dk2"/>
                </a:solidFill>
                <a:latin typeface="Bookman Old Style"/>
                <a:ea typeface="Bookman Old Style"/>
                <a:cs typeface="Bookman Old Style"/>
                <a:sym typeface="Bookman Old Style"/>
              </a:rPr>
              <a:t>Key components and considerations in software costing</a:t>
            </a:r>
            <a:endParaRPr/>
          </a:p>
        </p:txBody>
      </p:sp>
      <p:sp>
        <p:nvSpPr>
          <p:cNvPr id="122" name="Google Shape;122;p8"/>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Development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Infrastructure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Testing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Deployment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Maintenance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Project Management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License and Subscription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Documentation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Overhead Costs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Contingency and Risk Management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Development Costs</a:t>
            </a:r>
            <a:endParaRPr/>
          </a:p>
        </p:txBody>
      </p:sp>
      <p:sp>
        <p:nvSpPr>
          <p:cNvPr id="128" name="Google Shape;128;p9"/>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Labor Costs:</a:t>
            </a:r>
            <a:r>
              <a:rPr b="0" i="0" lang="en-US" sz="2600" u="none">
                <a:solidFill>
                  <a:schemeClr val="dk1"/>
                </a:solidFill>
                <a:latin typeface="Gill Sans"/>
                <a:ea typeface="Gill Sans"/>
                <a:cs typeface="Gill Sans"/>
                <a:sym typeface="Gill Sans"/>
              </a:rPr>
              <a:t> Estimate the time and effort required from development teams, including analysts, programmers, testers, and project managers. Consider hourly rates or salaries.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Tool and Technology Costs:</a:t>
            </a:r>
            <a:r>
              <a:rPr b="0" i="0" lang="en-US" sz="2600" u="none">
                <a:solidFill>
                  <a:schemeClr val="dk1"/>
                </a:solidFill>
                <a:latin typeface="Gill Sans"/>
                <a:ea typeface="Gill Sans"/>
                <a:cs typeface="Gill Sans"/>
                <a:sym typeface="Gill Sans"/>
              </a:rPr>
              <a:t> Include expenses related to development tools, integrated development environments (IDEs), and any specialized software or licenses required.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Infrastructure Costs</a:t>
            </a:r>
            <a:endParaRPr/>
          </a:p>
        </p:txBody>
      </p:sp>
      <p:sp>
        <p:nvSpPr>
          <p:cNvPr id="134" name="Google Shape;134;p10"/>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Hardware Costs:</a:t>
            </a:r>
            <a:r>
              <a:rPr b="0" i="0" lang="en-US" sz="2600" u="none">
                <a:solidFill>
                  <a:schemeClr val="dk1"/>
                </a:solidFill>
                <a:latin typeface="Gill Sans"/>
                <a:ea typeface="Gill Sans"/>
                <a:cs typeface="Gill Sans"/>
                <a:sym typeface="Gill Sans"/>
              </a:rPr>
              <a:t> Include expenses for servers, workstations, and any specialized hardware needed for development or deployment.</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Software Licenses:</a:t>
            </a:r>
            <a:r>
              <a:rPr b="0" i="0" lang="en-US" sz="2600" u="none">
                <a:solidFill>
                  <a:schemeClr val="dk1"/>
                </a:solidFill>
                <a:latin typeface="Gill Sans"/>
                <a:ea typeface="Gill Sans"/>
                <a:cs typeface="Gill Sans"/>
                <a:sym typeface="Gill Sans"/>
              </a:rPr>
              <a:t> Account for the cost of licenses for operating systems, databases, and other software components.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Testing Costs</a:t>
            </a:r>
            <a:endParaRPr/>
          </a:p>
        </p:txBody>
      </p:sp>
      <p:sp>
        <p:nvSpPr>
          <p:cNvPr id="140" name="Google Shape;140;p11"/>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Testing Tools:</a:t>
            </a:r>
            <a:r>
              <a:rPr b="0" i="0" lang="en-US" sz="2600" u="none">
                <a:solidFill>
                  <a:schemeClr val="dk1"/>
                </a:solidFill>
                <a:latin typeface="Gill Sans"/>
                <a:ea typeface="Gill Sans"/>
                <a:cs typeface="Gill Sans"/>
                <a:sym typeface="Gill Sans"/>
              </a:rPr>
              <a:t> Estimate the costs associated with testing tools, automation frameworks, and any third-party testing services.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Quality Assurance (QA) Team Costs:</a:t>
            </a:r>
            <a:r>
              <a:rPr b="0" i="0" lang="en-US" sz="2600" u="none">
                <a:solidFill>
                  <a:schemeClr val="dk1"/>
                </a:solidFill>
                <a:latin typeface="Gill Sans"/>
                <a:ea typeface="Gill Sans"/>
                <a:cs typeface="Gill Sans"/>
                <a:sym typeface="Gill Sans"/>
              </a:rPr>
              <a:t> Consider the time and effort invested by QA professionals in testing and quality control.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Deployment Costs</a:t>
            </a:r>
            <a:endParaRPr/>
          </a:p>
        </p:txBody>
      </p:sp>
      <p:sp>
        <p:nvSpPr>
          <p:cNvPr id="146" name="Google Shape;146;p12"/>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Deployment Tools:</a:t>
            </a:r>
            <a:r>
              <a:rPr b="0" i="0" lang="en-US" sz="2600" u="none">
                <a:solidFill>
                  <a:schemeClr val="dk1"/>
                </a:solidFill>
                <a:latin typeface="Gill Sans"/>
                <a:ea typeface="Gill Sans"/>
                <a:cs typeface="Gill Sans"/>
                <a:sym typeface="Gill Sans"/>
              </a:rPr>
              <a:t> Include costs for deployment automation tools and scripts.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User Training:</a:t>
            </a:r>
            <a:r>
              <a:rPr b="0" i="0" lang="en-US" sz="2600" u="none">
                <a:solidFill>
                  <a:schemeClr val="dk1"/>
                </a:solidFill>
                <a:latin typeface="Gill Sans"/>
                <a:ea typeface="Gill Sans"/>
                <a:cs typeface="Gill Sans"/>
                <a:sym typeface="Gill Sans"/>
              </a:rPr>
              <a:t> Estimate the costs associated with training end-users on how to use the software.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Maintenance Costs</a:t>
            </a:r>
            <a:endParaRPr/>
          </a:p>
        </p:txBody>
      </p:sp>
      <p:sp>
        <p:nvSpPr>
          <p:cNvPr id="152" name="Google Shape;152;p13"/>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Support and Maintenance:</a:t>
            </a:r>
            <a:r>
              <a:rPr b="0" i="0" lang="en-US" sz="2600" u="none">
                <a:solidFill>
                  <a:schemeClr val="dk1"/>
                </a:solidFill>
                <a:latin typeface="Gill Sans"/>
                <a:ea typeface="Gill Sans"/>
                <a:cs typeface="Gill Sans"/>
                <a:sym typeface="Gill Sans"/>
              </a:rPr>
              <a:t> Consider ongoing expenses related to bug fixes, updates, and user support.</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Enhancements:</a:t>
            </a:r>
            <a:r>
              <a:rPr b="0" i="0" lang="en-US" sz="2600" u="none">
                <a:solidFill>
                  <a:schemeClr val="dk1"/>
                </a:solidFill>
                <a:latin typeface="Gill Sans"/>
                <a:ea typeface="Gill Sans"/>
                <a:cs typeface="Gill Sans"/>
                <a:sym typeface="Gill Sans"/>
              </a:rPr>
              <a:t> If planned, estimate the costs of adding new features or making improvements to the software.</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Project Management Costs</a:t>
            </a:r>
            <a:endParaRPr/>
          </a:p>
        </p:txBody>
      </p:sp>
      <p:sp>
        <p:nvSpPr>
          <p:cNvPr id="158" name="Google Shape;158;p14"/>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Project Manager Costs:</a:t>
            </a:r>
            <a:r>
              <a:rPr b="0" i="0" lang="en-US" sz="2600" u="none">
                <a:solidFill>
                  <a:schemeClr val="dk1"/>
                </a:solidFill>
                <a:latin typeface="Gill Sans"/>
                <a:ea typeface="Gill Sans"/>
                <a:cs typeface="Gill Sans"/>
                <a:sym typeface="Gill Sans"/>
              </a:rPr>
              <a:t> Account for the time and effort invested by project managers in planning, coordination, and communication.</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Contingency Planning:</a:t>
            </a:r>
            <a:r>
              <a:rPr b="0" i="0" lang="en-US" sz="2600" u="none">
                <a:solidFill>
                  <a:schemeClr val="dk1"/>
                </a:solidFill>
                <a:latin typeface="Gill Sans"/>
                <a:ea typeface="Gill Sans"/>
                <a:cs typeface="Gill Sans"/>
                <a:sym typeface="Gill Sans"/>
              </a:rPr>
              <a:t> Allocate a percentage of the budget for unforeseen issues or changes.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License and Subscription Costs</a:t>
            </a:r>
            <a:endParaRPr/>
          </a:p>
        </p:txBody>
      </p:sp>
      <p:sp>
        <p:nvSpPr>
          <p:cNvPr id="164" name="Google Shape;164;p15"/>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Third-Party Services:</a:t>
            </a:r>
            <a:r>
              <a:rPr b="0" i="0" lang="en-US" sz="2600" u="none">
                <a:solidFill>
                  <a:schemeClr val="dk1"/>
                </a:solidFill>
                <a:latin typeface="Gill Sans"/>
                <a:ea typeface="Gill Sans"/>
                <a:cs typeface="Gill Sans"/>
                <a:sym typeface="Gill Sans"/>
              </a:rPr>
              <a:t> Include costs associated with third-party APIs, cloud services, or any external services used by the software.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Documentation Costs</a:t>
            </a:r>
            <a:endParaRPr/>
          </a:p>
        </p:txBody>
      </p:sp>
      <p:sp>
        <p:nvSpPr>
          <p:cNvPr id="170" name="Google Shape;170;p16"/>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rmAutofit/>
          </a:bodyPr>
          <a:lstStyle/>
          <a:p>
            <a:pPr indent="-273050" lvl="0" marL="273050" marR="0" rtl="0" algn="l">
              <a:lnSpc>
                <a:spcPct val="80000"/>
              </a:lnSpc>
              <a:spcBef>
                <a:spcPts val="0"/>
              </a:spcBef>
              <a:spcAft>
                <a:spcPts val="0"/>
              </a:spcAft>
              <a:buClr>
                <a:schemeClr val="accent1"/>
              </a:buClr>
              <a:buSzPts val="1520"/>
              <a:buFont typeface="Noto Sans Symbols"/>
              <a:buChar char="🞂"/>
            </a:pPr>
            <a:r>
              <a:rPr b="1" i="0" lang="en-US" sz="2000" u="none">
                <a:solidFill>
                  <a:schemeClr val="dk1"/>
                </a:solidFill>
                <a:latin typeface="Gill Sans"/>
                <a:ea typeface="Gill Sans"/>
                <a:cs typeface="Gill Sans"/>
                <a:sym typeface="Gill Sans"/>
              </a:rPr>
              <a:t>Documentation Tools:</a:t>
            </a:r>
            <a:r>
              <a:rPr b="0" i="0" lang="en-US" sz="2000" u="none">
                <a:solidFill>
                  <a:schemeClr val="dk1"/>
                </a:solidFill>
                <a:latin typeface="Gill Sans"/>
                <a:ea typeface="Gill Sans"/>
                <a:cs typeface="Gill Sans"/>
                <a:sym typeface="Gill Sans"/>
              </a:rPr>
              <a:t> Include costs related to creating user manuals, technical documentation, and help systems</a:t>
            </a:r>
            <a:endParaRPr/>
          </a:p>
          <a:p>
            <a:pPr indent="-273050" lvl="0" marL="273050" marR="0" rtl="0" algn="l">
              <a:lnSpc>
                <a:spcPct val="80000"/>
              </a:lnSpc>
              <a:spcBef>
                <a:spcPts val="600"/>
              </a:spcBef>
              <a:spcAft>
                <a:spcPts val="0"/>
              </a:spcAft>
              <a:buClr>
                <a:schemeClr val="accent1"/>
              </a:buClr>
              <a:buSzPts val="1520"/>
              <a:buFont typeface="Noto Sans Symbols"/>
              <a:buNone/>
            </a:pPr>
            <a:r>
              <a:t/>
            </a:r>
            <a:endParaRPr b="0" i="0" sz="2000" u="none">
              <a:solidFill>
                <a:schemeClr val="dk1"/>
              </a:solidFill>
              <a:latin typeface="Gill Sans"/>
              <a:ea typeface="Gill Sans"/>
              <a:cs typeface="Gill Sans"/>
              <a:sym typeface="Gill Sans"/>
            </a:endParaRPr>
          </a:p>
          <a:p>
            <a:pPr indent="-273050" lvl="0" marL="273050" marR="0" rtl="0" algn="l">
              <a:lnSpc>
                <a:spcPct val="80000"/>
              </a:lnSpc>
              <a:spcBef>
                <a:spcPts val="600"/>
              </a:spcBef>
              <a:spcAft>
                <a:spcPts val="0"/>
              </a:spcAft>
              <a:buClr>
                <a:schemeClr val="accent1"/>
              </a:buClr>
              <a:buSzPts val="1520"/>
              <a:buFont typeface="Noto Sans Symbols"/>
              <a:buChar char="🞂"/>
            </a:pPr>
            <a:r>
              <a:rPr b="0" i="0" lang="en-US" sz="2000" u="none">
                <a:solidFill>
                  <a:schemeClr val="dk1"/>
                </a:solidFill>
                <a:latin typeface="Gill Sans"/>
                <a:ea typeface="Gill Sans"/>
                <a:cs typeface="Gill Sans"/>
                <a:sym typeface="Gill Sans"/>
              </a:rPr>
              <a:t>In some cases, organizations may choose to categorize documentation costs separately. This could be done for better tracking and visibility of expenses related specifically to documentation efforts.</a:t>
            </a:r>
            <a:endParaRPr/>
          </a:p>
          <a:p>
            <a:pPr indent="-273050" lvl="0" marL="273050" marR="0" rtl="0" algn="l">
              <a:lnSpc>
                <a:spcPct val="80000"/>
              </a:lnSpc>
              <a:spcBef>
                <a:spcPts val="600"/>
              </a:spcBef>
              <a:spcAft>
                <a:spcPts val="0"/>
              </a:spcAft>
              <a:buClr>
                <a:schemeClr val="accent1"/>
              </a:buClr>
              <a:buSzPts val="1520"/>
              <a:buFont typeface="Noto Sans Symbols"/>
              <a:buChar char="🞂"/>
            </a:pPr>
            <a:r>
              <a:rPr b="0" i="0" lang="en-US" sz="2000" u="none">
                <a:solidFill>
                  <a:schemeClr val="dk1"/>
                </a:solidFill>
                <a:latin typeface="Gill Sans"/>
                <a:ea typeface="Gill Sans"/>
                <a:cs typeface="Gill Sans"/>
                <a:sym typeface="Gill Sans"/>
              </a:rPr>
              <a:t>In this scenario, documentation costs would still be part of the broader software development budget, but there would be a dedicated breakdown for documentation within that budget.</a:t>
            </a:r>
            <a:endParaRPr/>
          </a:p>
          <a:p>
            <a:pPr indent="-273050" lvl="0" marL="273050" marR="0" rtl="0" algn="l">
              <a:lnSpc>
                <a:spcPct val="80000"/>
              </a:lnSpc>
              <a:spcBef>
                <a:spcPts val="600"/>
              </a:spcBef>
              <a:spcAft>
                <a:spcPts val="0"/>
              </a:spcAft>
              <a:buClr>
                <a:schemeClr val="accent1"/>
              </a:buClr>
              <a:buSzPts val="1520"/>
              <a:buFont typeface="Noto Sans Symbols"/>
              <a:buChar char="🞂"/>
            </a:pPr>
            <a:r>
              <a:rPr b="0" i="0" lang="en-US" sz="2000" u="none">
                <a:solidFill>
                  <a:schemeClr val="dk1"/>
                </a:solidFill>
                <a:latin typeface="Gill Sans"/>
                <a:ea typeface="Gill Sans"/>
                <a:cs typeface="Gill Sans"/>
                <a:sym typeface="Gill Sans"/>
              </a:rPr>
              <a:t>Ultimately, the choice of how to categorize documentation costs may depend on the organization's accounting practices, project management approach, and the level of granularity they want in tracking expenses. It's common for documentation costs to be closely associated with development costs since they are integral to delivering a complete and usable software product. However, organizations may tailor their cost structures based on their specific needs and reporting preferences.</a:t>
            </a:r>
            <a:br>
              <a:rPr b="0" i="0" lang="en-US" sz="2000" u="none">
                <a:solidFill>
                  <a:schemeClr val="dk1"/>
                </a:solidFill>
                <a:latin typeface="Gill Sans"/>
                <a:ea typeface="Gill Sans"/>
                <a:cs typeface="Gill Sans"/>
                <a:sym typeface="Gill Sans"/>
              </a:rPr>
            </a:b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Overhead Costs</a:t>
            </a:r>
            <a:endParaRPr/>
          </a:p>
        </p:txBody>
      </p:sp>
      <p:sp>
        <p:nvSpPr>
          <p:cNvPr id="176" name="Google Shape;176;p17"/>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Facility Costs:</a:t>
            </a:r>
            <a:r>
              <a:rPr b="0" i="0" lang="en-US" sz="2600" u="none">
                <a:solidFill>
                  <a:schemeClr val="dk1"/>
                </a:solidFill>
                <a:latin typeface="Gill Sans"/>
                <a:ea typeface="Gill Sans"/>
                <a:cs typeface="Gill Sans"/>
                <a:sym typeface="Gill Sans"/>
              </a:rPr>
              <a:t> Consider rent, utilities, and other facility-related expenses.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General Administrative Costs:</a:t>
            </a:r>
            <a:r>
              <a:rPr b="0" i="0" lang="en-US" sz="2600" u="none">
                <a:solidFill>
                  <a:schemeClr val="dk1"/>
                </a:solidFill>
                <a:latin typeface="Gill Sans"/>
                <a:ea typeface="Gill Sans"/>
                <a:cs typeface="Gill Sans"/>
                <a:sym typeface="Gill Sans"/>
              </a:rPr>
              <a:t> Include administrative overhead such as office supplies and general support services.</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Contingency and Risk Management</a:t>
            </a:r>
            <a:endParaRPr/>
          </a:p>
        </p:txBody>
      </p:sp>
      <p:sp>
        <p:nvSpPr>
          <p:cNvPr id="182" name="Google Shape;182;p18"/>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1" lang="en-US" sz="2600" u="none">
                <a:solidFill>
                  <a:schemeClr val="dk1"/>
                </a:solidFill>
                <a:latin typeface="Gill Sans"/>
                <a:ea typeface="Gill Sans"/>
                <a:cs typeface="Gill Sans"/>
                <a:sym typeface="Gill Sans"/>
              </a:rPr>
              <a:t>Allocate a portion of the budget for unexpected risks or changes </a:t>
            </a:r>
            <a:r>
              <a:rPr b="0" i="0" lang="en-US" sz="2600" u="none">
                <a:solidFill>
                  <a:schemeClr val="dk1"/>
                </a:solidFill>
                <a:latin typeface="Gill Sans"/>
                <a:ea typeface="Gill Sans"/>
                <a:cs typeface="Gill Sans"/>
                <a:sym typeface="Gill Sans"/>
              </a:rPr>
              <a:t>in project scope.</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Regularly reassess and update the budget as the project progresses.</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Software Cost Estimation</a:t>
            </a:r>
            <a:endParaRPr/>
          </a:p>
        </p:txBody>
      </p:sp>
      <p:sp>
        <p:nvSpPr>
          <p:cNvPr id="188" name="Google Shape;188;p19"/>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A model may be </a:t>
            </a:r>
            <a:r>
              <a:rPr b="1" i="0" lang="en-US" sz="2600" u="none">
                <a:solidFill>
                  <a:schemeClr val="dk1"/>
                </a:solidFill>
                <a:latin typeface="Gill Sans"/>
                <a:ea typeface="Gill Sans"/>
                <a:cs typeface="Gill Sans"/>
                <a:sym typeface="Gill Sans"/>
              </a:rPr>
              <a:t>static</a:t>
            </a:r>
            <a:r>
              <a:rPr b="0" i="0" lang="en-US" sz="2600" u="none">
                <a:solidFill>
                  <a:schemeClr val="dk1"/>
                </a:solidFill>
                <a:latin typeface="Gill Sans"/>
                <a:ea typeface="Gill Sans"/>
                <a:cs typeface="Gill Sans"/>
                <a:sym typeface="Gill Sans"/>
              </a:rPr>
              <a:t> or </a:t>
            </a:r>
            <a:r>
              <a:rPr b="1" i="0" lang="en-US" sz="2600" u="none">
                <a:solidFill>
                  <a:schemeClr val="dk1"/>
                </a:solidFill>
                <a:latin typeface="Gill Sans"/>
                <a:ea typeface="Gill Sans"/>
                <a:cs typeface="Gill Sans"/>
                <a:sym typeface="Gill Sans"/>
              </a:rPr>
              <a:t>dynamic</a:t>
            </a:r>
            <a:r>
              <a:rPr b="0" i="0" lang="en-US" sz="2600" u="none">
                <a:solidFill>
                  <a:schemeClr val="dk1"/>
                </a:solidFill>
                <a:latin typeface="Gill Sans"/>
                <a:ea typeface="Gill Sans"/>
                <a:cs typeface="Gill Sans"/>
                <a:sym typeface="Gill Sans"/>
              </a:rPr>
              <a:t>. In a static model, a single variable is taken as a key element for calculating cost and time. </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In a dynamic model, all variable are interdependent, and there is no basic variable.</a:t>
            </a:r>
            <a:endParaRPr/>
          </a:p>
          <a:p>
            <a:pPr indent="-273050" lvl="0" marL="273050" marR="0" rtl="0" algn="l">
              <a:lnSpc>
                <a:spcPct val="100000"/>
              </a:lnSpc>
              <a:spcBef>
                <a:spcPts val="600"/>
              </a:spcBef>
              <a:spcAft>
                <a:spcPts val="0"/>
              </a:spcAft>
              <a:buClr>
                <a:schemeClr val="accent1"/>
              </a:buClr>
              <a:buSzPts val="1976"/>
              <a:buFont typeface="Noto Sans Symbols"/>
              <a:buChar char="🞂"/>
            </a:pPr>
            <a:br>
              <a:rPr b="0" i="0" lang="en-US" sz="2600" u="none">
                <a:solidFill>
                  <a:schemeClr val="dk1"/>
                </a:solidFill>
                <a:latin typeface="Gill Sans"/>
                <a:ea typeface="Gill Sans"/>
                <a:cs typeface="Gill Sans"/>
                <a:sym typeface="Gill Sans"/>
              </a:rPr>
            </a:br>
            <a:endParaRPr/>
          </a:p>
        </p:txBody>
      </p:sp>
      <p:pic>
        <p:nvPicPr>
          <p:cNvPr descr="Software Cost Estimation" id="189" name="Google Shape;189;p19"/>
          <p:cNvPicPr preferRelativeResize="0"/>
          <p:nvPr/>
        </p:nvPicPr>
        <p:blipFill rotWithShape="1">
          <a:blip r:embed="rId3">
            <a:alphaModFix/>
          </a:blip>
          <a:srcRect b="0" l="0" r="0" t="0"/>
          <a:stretch/>
        </p:blipFill>
        <p:spPr>
          <a:xfrm>
            <a:off x="1600200" y="4010025"/>
            <a:ext cx="5943600" cy="2162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914400" y="2286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Single-Variable Vs Multi-Variable</a:t>
            </a:r>
            <a:endParaRPr/>
          </a:p>
        </p:txBody>
      </p:sp>
      <p:sp>
        <p:nvSpPr>
          <p:cNvPr id="195" name="Google Shape;195;p20"/>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The terms "static single-variable" and "static multi-variable" refer to different characteristics of software cost estimation models, particularly in terms of their flexibility and the number of factors considered in the estimation process.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Static Single-Variable Model:</a:t>
            </a:r>
            <a:endParaRPr b="0" i="0" sz="2600" u="none">
              <a:solidFill>
                <a:schemeClr val="dk1"/>
              </a:solidFill>
              <a:latin typeface="Gill Sans"/>
              <a:ea typeface="Gill Sans"/>
              <a:cs typeface="Gill Sans"/>
              <a:sym typeface="Gill Sans"/>
            </a:endParaRPr>
          </a:p>
          <a:p>
            <a:pPr indent="-273049" lvl="1" marL="547687" marR="0" rtl="0" algn="l">
              <a:lnSpc>
                <a:spcPct val="100000"/>
              </a:lnSpc>
              <a:spcBef>
                <a:spcPts val="500"/>
              </a:spcBef>
              <a:spcAft>
                <a:spcPts val="0"/>
              </a:spcAft>
              <a:buClr>
                <a:schemeClr val="accent2"/>
              </a:buClr>
              <a:buSzPts val="1748"/>
              <a:buFont typeface="Noto Sans Symbols"/>
              <a:buChar char="🞂"/>
            </a:pPr>
            <a:r>
              <a:rPr b="1" i="0" lang="en-US" sz="2300" u="none" cap="none" strike="noStrike">
                <a:solidFill>
                  <a:schemeClr val="dk2"/>
                </a:solidFill>
                <a:latin typeface="Gill Sans"/>
                <a:ea typeface="Gill Sans"/>
                <a:cs typeface="Gill Sans"/>
                <a:sym typeface="Gill Sans"/>
              </a:rPr>
              <a:t>Static:</a:t>
            </a:r>
            <a:r>
              <a:rPr b="0" i="0" lang="en-US" sz="2300" u="none" cap="none" strike="noStrike">
                <a:solidFill>
                  <a:schemeClr val="dk2"/>
                </a:solidFill>
                <a:latin typeface="Gill Sans"/>
                <a:ea typeface="Gill Sans"/>
                <a:cs typeface="Gill Sans"/>
                <a:sym typeface="Gill Sans"/>
              </a:rPr>
              <a:t> This implies that the model does not change over time or in response to new information. It provides estimates based on fixed input parameters.</a:t>
            </a:r>
            <a:endParaRPr/>
          </a:p>
          <a:p>
            <a:pPr indent="-273049" lvl="1" marL="547687" marR="0" rtl="0" algn="l">
              <a:lnSpc>
                <a:spcPct val="100000"/>
              </a:lnSpc>
              <a:spcBef>
                <a:spcPts val="500"/>
              </a:spcBef>
              <a:spcAft>
                <a:spcPts val="0"/>
              </a:spcAft>
              <a:buClr>
                <a:schemeClr val="accent2"/>
              </a:buClr>
              <a:buSzPts val="1748"/>
              <a:buFont typeface="Noto Sans Symbols"/>
              <a:buChar char="🞂"/>
            </a:pPr>
            <a:r>
              <a:rPr b="1" i="0" lang="en-US" sz="2300" u="none" cap="none" strike="noStrike">
                <a:solidFill>
                  <a:schemeClr val="dk2"/>
                </a:solidFill>
                <a:latin typeface="Gill Sans"/>
                <a:ea typeface="Gill Sans"/>
                <a:cs typeface="Gill Sans"/>
                <a:sym typeface="Gill Sans"/>
              </a:rPr>
              <a:t>Single-Variable:</a:t>
            </a:r>
            <a:r>
              <a:rPr b="0" i="0" lang="en-US" sz="2300" u="none" cap="none" strike="noStrike">
                <a:solidFill>
                  <a:schemeClr val="dk2"/>
                </a:solidFill>
                <a:latin typeface="Gill Sans"/>
                <a:ea typeface="Gill Sans"/>
                <a:cs typeface="Gill Sans"/>
                <a:sym typeface="Gill Sans"/>
              </a:rPr>
              <a:t> This means that the estimation process relies on only one input parameter or factor. For example, a static single-variable model might estimate software development effort solely based on the size of the project, such as lines of code or function points.</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In summary:</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Static</a:t>
            </a:r>
            <a:r>
              <a:rPr b="0" i="0" lang="en-US" sz="2600" u="none">
                <a:solidFill>
                  <a:schemeClr val="dk1"/>
                </a:solidFill>
                <a:latin typeface="Gill Sans"/>
                <a:ea typeface="Gill Sans"/>
                <a:cs typeface="Gill Sans"/>
                <a:sym typeface="Gill Sans"/>
              </a:rPr>
              <a:t> models do not change over time and provide fixed estimates.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Single-Variable</a:t>
            </a:r>
            <a:r>
              <a:rPr b="0" i="0" lang="en-US" sz="2600" u="none">
                <a:solidFill>
                  <a:schemeClr val="dk1"/>
                </a:solidFill>
                <a:latin typeface="Gill Sans"/>
                <a:ea typeface="Gill Sans"/>
                <a:cs typeface="Gill Sans"/>
                <a:sym typeface="Gill Sans"/>
              </a:rPr>
              <a:t> models rely on one input parameter for estimation.</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Multi-Variable</a:t>
            </a:r>
            <a:r>
              <a:rPr b="0" i="0" lang="en-US" sz="2600" u="none">
                <a:solidFill>
                  <a:schemeClr val="dk1"/>
                </a:solidFill>
                <a:latin typeface="Gill Sans"/>
                <a:ea typeface="Gill Sans"/>
                <a:cs typeface="Gill Sans"/>
                <a:sym typeface="Gill Sans"/>
              </a:rPr>
              <a:t> models consider multiple input parameters in the estimation process.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The choice between a static single-variable model and a static multi-variable model depends on the specific needs of a project and the available data. While more variables may contribute to a more nuanced and accurate estimation, they also require more data and may be more complex to implement. It's essential to strike a balance between simplicity and capturing the essential factors influencing the project's cost.</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2800"/>
              <a:buFont typeface="Bookman Old Style"/>
              <a:buNone/>
            </a:pPr>
            <a:r>
              <a:rPr b="1" i="0" lang="en-US" sz="2800" u="none">
                <a:solidFill>
                  <a:schemeClr val="dk2"/>
                </a:solidFill>
                <a:latin typeface="Bookman Old Style"/>
                <a:ea typeface="Bookman Old Style"/>
                <a:cs typeface="Bookman Old Style"/>
                <a:sym typeface="Bookman Old Style"/>
              </a:rPr>
              <a:t>Single-Variable Vs Multi-Variable cont..</a:t>
            </a:r>
            <a:endParaRPr/>
          </a:p>
        </p:txBody>
      </p:sp>
      <p:sp>
        <p:nvSpPr>
          <p:cNvPr id="201" name="Google Shape;201;p21"/>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Static Multi-Variable Model:</a:t>
            </a:r>
            <a:endParaRPr b="0" i="0" sz="2600" u="none">
              <a:solidFill>
                <a:schemeClr val="dk1"/>
              </a:solidFill>
              <a:latin typeface="Gill Sans"/>
              <a:ea typeface="Gill Sans"/>
              <a:cs typeface="Gill Sans"/>
              <a:sym typeface="Gill Sans"/>
            </a:endParaRPr>
          </a:p>
          <a:p>
            <a:pPr indent="-273049" lvl="1" marL="547687" marR="0" rtl="0" algn="l">
              <a:lnSpc>
                <a:spcPct val="100000"/>
              </a:lnSpc>
              <a:spcBef>
                <a:spcPts val="500"/>
              </a:spcBef>
              <a:spcAft>
                <a:spcPts val="0"/>
              </a:spcAft>
              <a:buClr>
                <a:schemeClr val="accent2"/>
              </a:buClr>
              <a:buSzPts val="1748"/>
              <a:buFont typeface="Noto Sans Symbols"/>
              <a:buChar char="🞂"/>
            </a:pPr>
            <a:r>
              <a:rPr b="1" i="0" lang="en-US" sz="2300" u="none" cap="none" strike="noStrike">
                <a:solidFill>
                  <a:schemeClr val="dk2"/>
                </a:solidFill>
                <a:latin typeface="Gill Sans"/>
                <a:ea typeface="Gill Sans"/>
                <a:cs typeface="Gill Sans"/>
                <a:sym typeface="Gill Sans"/>
              </a:rPr>
              <a:t>Static:</a:t>
            </a:r>
            <a:r>
              <a:rPr b="0" i="0" lang="en-US" sz="2300" u="none" cap="none" strike="noStrike">
                <a:solidFill>
                  <a:schemeClr val="dk2"/>
                </a:solidFill>
                <a:latin typeface="Gill Sans"/>
                <a:ea typeface="Gill Sans"/>
                <a:cs typeface="Gill Sans"/>
                <a:sym typeface="Gill Sans"/>
              </a:rPr>
              <a:t> Like the single-variable model, this suggests that the model does not dynamically adapt to changes over time. However, it still considers multiple input parameters.</a:t>
            </a:r>
            <a:endParaRPr/>
          </a:p>
          <a:p>
            <a:pPr indent="-273049" lvl="1" marL="547687" marR="0" rtl="0" algn="l">
              <a:lnSpc>
                <a:spcPct val="100000"/>
              </a:lnSpc>
              <a:spcBef>
                <a:spcPts val="500"/>
              </a:spcBef>
              <a:spcAft>
                <a:spcPts val="0"/>
              </a:spcAft>
              <a:buClr>
                <a:schemeClr val="accent2"/>
              </a:buClr>
              <a:buSzPts val="1748"/>
              <a:buFont typeface="Noto Sans Symbols"/>
              <a:buChar char="🞂"/>
            </a:pPr>
            <a:r>
              <a:rPr b="1" i="0" lang="en-US" sz="2300" u="none" cap="none" strike="noStrike">
                <a:solidFill>
                  <a:schemeClr val="dk2"/>
                </a:solidFill>
                <a:latin typeface="Gill Sans"/>
                <a:ea typeface="Gill Sans"/>
                <a:cs typeface="Gill Sans"/>
                <a:sym typeface="Gill Sans"/>
              </a:rPr>
              <a:t>Multi-Variable:</a:t>
            </a:r>
            <a:r>
              <a:rPr b="0" i="0" lang="en-US" sz="2300" u="none" cap="none" strike="noStrike">
                <a:solidFill>
                  <a:schemeClr val="dk2"/>
                </a:solidFill>
                <a:latin typeface="Gill Sans"/>
                <a:ea typeface="Gill Sans"/>
                <a:cs typeface="Gill Sans"/>
                <a:sym typeface="Gill Sans"/>
              </a:rPr>
              <a:t> This means that the estimation process takes into account more than one factor. For instance, a static multi-variable model might consider </a:t>
            </a:r>
            <a:r>
              <a:rPr b="1" i="0" lang="en-US" sz="2300" u="none" cap="none" strike="noStrike">
                <a:solidFill>
                  <a:schemeClr val="dk2"/>
                </a:solidFill>
                <a:latin typeface="Gill Sans"/>
                <a:ea typeface="Gill Sans"/>
                <a:cs typeface="Gill Sans"/>
                <a:sym typeface="Gill Sans"/>
              </a:rPr>
              <a:t>project size,</a:t>
            </a:r>
            <a:r>
              <a:rPr b="0" i="0" lang="en-US" sz="2300" u="none" cap="none" strike="noStrike">
                <a:solidFill>
                  <a:schemeClr val="dk2"/>
                </a:solidFill>
                <a:latin typeface="Gill Sans"/>
                <a:ea typeface="Gill Sans"/>
                <a:cs typeface="Gill Sans"/>
                <a:sym typeface="Gill Sans"/>
              </a:rPr>
              <a:t> </a:t>
            </a:r>
            <a:r>
              <a:rPr b="1" i="0" lang="en-US" sz="2300" u="none" cap="none" strike="noStrike">
                <a:solidFill>
                  <a:schemeClr val="dk2"/>
                </a:solidFill>
                <a:latin typeface="Gill Sans"/>
                <a:ea typeface="Gill Sans"/>
                <a:cs typeface="Gill Sans"/>
                <a:sym typeface="Gill Sans"/>
              </a:rPr>
              <a:t>team experience</a:t>
            </a:r>
            <a:r>
              <a:rPr b="0" i="0" lang="en-US" sz="2300" u="none" cap="none" strike="noStrike">
                <a:solidFill>
                  <a:schemeClr val="dk2"/>
                </a:solidFill>
                <a:latin typeface="Gill Sans"/>
                <a:ea typeface="Gill Sans"/>
                <a:cs typeface="Gill Sans"/>
                <a:sym typeface="Gill Sans"/>
              </a:rPr>
              <a:t>, </a:t>
            </a:r>
            <a:r>
              <a:rPr b="1" i="0" lang="en-US" sz="2300" u="none" cap="none" strike="noStrike">
                <a:solidFill>
                  <a:schemeClr val="dk2"/>
                </a:solidFill>
                <a:latin typeface="Gill Sans"/>
                <a:ea typeface="Gill Sans"/>
                <a:cs typeface="Gill Sans"/>
                <a:sym typeface="Gill Sans"/>
              </a:rPr>
              <a:t>complexity</a:t>
            </a:r>
            <a:r>
              <a:rPr b="0" i="0" lang="en-US" sz="2300" u="none" cap="none" strike="noStrike">
                <a:solidFill>
                  <a:schemeClr val="dk2"/>
                </a:solidFill>
                <a:latin typeface="Gill Sans"/>
                <a:ea typeface="Gill Sans"/>
                <a:cs typeface="Gill Sans"/>
                <a:sym typeface="Gill Sans"/>
              </a:rPr>
              <a:t>, and </a:t>
            </a:r>
            <a:r>
              <a:rPr b="1" i="0" lang="en-US" sz="2300" u="none" cap="none" strike="noStrike">
                <a:solidFill>
                  <a:schemeClr val="dk2"/>
                </a:solidFill>
                <a:latin typeface="Gill Sans"/>
                <a:ea typeface="Gill Sans"/>
                <a:cs typeface="Gill Sans"/>
                <a:sym typeface="Gill Sans"/>
              </a:rPr>
              <a:t>other relevant factors</a:t>
            </a:r>
            <a:r>
              <a:rPr b="0" i="0" lang="en-US" sz="2300" u="none" cap="none" strike="noStrike">
                <a:solidFill>
                  <a:schemeClr val="dk2"/>
                </a:solidFill>
                <a:latin typeface="Gill Sans"/>
                <a:ea typeface="Gill Sans"/>
                <a:cs typeface="Gill Sans"/>
                <a:sym typeface="Gill Sans"/>
              </a:rPr>
              <a:t> simultaneously to estimate effort and cost.</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Single-Variable Vs Multi-Variable cont..</a:t>
            </a:r>
            <a:endParaRPr/>
          </a:p>
        </p:txBody>
      </p:sp>
      <p:sp>
        <p:nvSpPr>
          <p:cNvPr id="207" name="Google Shape;207;p22"/>
          <p:cNvSpPr txBox="1"/>
          <p:nvPr>
            <p:ph idx="1" type="body"/>
          </p:nvPr>
        </p:nvSpPr>
        <p:spPr>
          <a:xfrm>
            <a:off x="304800" y="1219200"/>
            <a:ext cx="8839200" cy="56388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824"/>
              <a:buFont typeface="Noto Sans Symbols"/>
              <a:buChar char="🞂"/>
            </a:pPr>
            <a:r>
              <a:rPr b="1" i="0" lang="en-US" sz="2400" u="none">
                <a:solidFill>
                  <a:schemeClr val="dk1"/>
                </a:solidFill>
                <a:latin typeface="Gill Sans"/>
                <a:ea typeface="Gill Sans"/>
                <a:cs typeface="Gill Sans"/>
                <a:sym typeface="Gill Sans"/>
              </a:rPr>
              <a:t>Static</a:t>
            </a:r>
            <a:r>
              <a:rPr b="0" i="0" lang="en-US" sz="2400" u="none">
                <a:solidFill>
                  <a:schemeClr val="dk1"/>
                </a:solidFill>
                <a:latin typeface="Gill Sans"/>
                <a:ea typeface="Gill Sans"/>
                <a:cs typeface="Gill Sans"/>
                <a:sym typeface="Gill Sans"/>
              </a:rPr>
              <a:t> models do not change over time and provide fixed estimates.</a:t>
            </a:r>
            <a:endParaRPr/>
          </a:p>
          <a:p>
            <a:pPr indent="-273050" lvl="0" marL="273050" marR="0" rtl="0" algn="l">
              <a:lnSpc>
                <a:spcPct val="100000"/>
              </a:lnSpc>
              <a:spcBef>
                <a:spcPts val="600"/>
              </a:spcBef>
              <a:spcAft>
                <a:spcPts val="0"/>
              </a:spcAft>
              <a:buClr>
                <a:schemeClr val="accent1"/>
              </a:buClr>
              <a:buSzPts val="1824"/>
              <a:buFont typeface="Noto Sans Symbols"/>
              <a:buChar char="🞂"/>
            </a:pPr>
            <a:r>
              <a:rPr b="1" i="0" lang="en-US" sz="2400" u="none">
                <a:solidFill>
                  <a:schemeClr val="dk1"/>
                </a:solidFill>
                <a:latin typeface="Gill Sans"/>
                <a:ea typeface="Gill Sans"/>
                <a:cs typeface="Gill Sans"/>
                <a:sym typeface="Gill Sans"/>
              </a:rPr>
              <a:t>Single-Variable</a:t>
            </a:r>
            <a:r>
              <a:rPr b="0" i="0" lang="en-US" sz="2400" u="none">
                <a:solidFill>
                  <a:schemeClr val="dk1"/>
                </a:solidFill>
                <a:latin typeface="Gill Sans"/>
                <a:ea typeface="Gill Sans"/>
                <a:cs typeface="Gill Sans"/>
                <a:sym typeface="Gill Sans"/>
              </a:rPr>
              <a:t> models rely on one input parameter for estimation.</a:t>
            </a:r>
            <a:endParaRPr/>
          </a:p>
          <a:p>
            <a:pPr indent="-273050" lvl="0" marL="273050" marR="0" rtl="0" algn="l">
              <a:lnSpc>
                <a:spcPct val="100000"/>
              </a:lnSpc>
              <a:spcBef>
                <a:spcPts val="600"/>
              </a:spcBef>
              <a:spcAft>
                <a:spcPts val="0"/>
              </a:spcAft>
              <a:buClr>
                <a:schemeClr val="accent1"/>
              </a:buClr>
              <a:buSzPts val="1824"/>
              <a:buFont typeface="Noto Sans Symbols"/>
              <a:buChar char="🞂"/>
            </a:pPr>
            <a:r>
              <a:rPr b="1" i="0" lang="en-US" sz="2400" u="none">
                <a:solidFill>
                  <a:schemeClr val="dk1"/>
                </a:solidFill>
                <a:latin typeface="Gill Sans"/>
                <a:ea typeface="Gill Sans"/>
                <a:cs typeface="Gill Sans"/>
                <a:sym typeface="Gill Sans"/>
              </a:rPr>
              <a:t>Multi-Variable</a:t>
            </a:r>
            <a:r>
              <a:rPr b="0" i="0" lang="en-US" sz="2400" u="none">
                <a:solidFill>
                  <a:schemeClr val="dk1"/>
                </a:solidFill>
                <a:latin typeface="Gill Sans"/>
                <a:ea typeface="Gill Sans"/>
                <a:cs typeface="Gill Sans"/>
                <a:sym typeface="Gill Sans"/>
              </a:rPr>
              <a:t> models consider multiple input parameters in the estimation process.</a:t>
            </a:r>
            <a:endParaRPr/>
          </a:p>
          <a:p>
            <a:pPr indent="-273050" lvl="0" marL="273050" marR="0" rtl="0" algn="l">
              <a:lnSpc>
                <a:spcPct val="100000"/>
              </a:lnSpc>
              <a:spcBef>
                <a:spcPts val="600"/>
              </a:spcBef>
              <a:spcAft>
                <a:spcPts val="0"/>
              </a:spcAft>
              <a:buClr>
                <a:schemeClr val="accent1"/>
              </a:buClr>
              <a:buSzPts val="1824"/>
              <a:buFont typeface="Noto Sans Symbols"/>
              <a:buChar char="🞂"/>
            </a:pPr>
            <a:r>
              <a:rPr b="0" i="0" lang="en-US" sz="2400" u="none">
                <a:solidFill>
                  <a:schemeClr val="dk1"/>
                </a:solidFill>
                <a:latin typeface="Gill Sans"/>
                <a:ea typeface="Gill Sans"/>
                <a:cs typeface="Gill Sans"/>
                <a:sym typeface="Gill Sans"/>
              </a:rPr>
              <a:t>The choice between a static single-variable model and a static multi-variable model depends on the specific needs of a project and the available data. While more variables may contribute to a more nuanced and accurate estimation, they also require more data and may be more complex to implement. It's essential to strike a balance between simplicity and capturing the essential factors influencing the project's cost.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Static, Single Variable Models</a:t>
            </a:r>
            <a:r>
              <a:rPr b="0" i="0" lang="en-US" sz="3200" u="none">
                <a:solidFill>
                  <a:schemeClr val="dk2"/>
                </a:solidFill>
                <a:latin typeface="Bookman Old Style"/>
                <a:ea typeface="Bookman Old Style"/>
                <a:cs typeface="Bookman Old Style"/>
                <a:sym typeface="Bookman Old Style"/>
              </a:rPr>
              <a:t> </a:t>
            </a:r>
            <a:endParaRPr/>
          </a:p>
        </p:txBody>
      </p:sp>
      <p:sp>
        <p:nvSpPr>
          <p:cNvPr id="213" name="Google Shape;213;p23"/>
          <p:cNvSpPr txBox="1"/>
          <p:nvPr>
            <p:ph idx="1" type="body"/>
          </p:nvPr>
        </p:nvSpPr>
        <p:spPr>
          <a:xfrm>
            <a:off x="457200" y="1219200"/>
            <a:ext cx="8686800" cy="56388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When a model makes use of single variables to calculate desired values such as cost, time, efforts, etc. is said to be a single variable model. The most common equation is:</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a:t>
            </a:r>
            <a:r>
              <a:rPr b="1" i="0" lang="en-US" sz="2600" u="none">
                <a:solidFill>
                  <a:schemeClr val="dk1"/>
                </a:solidFill>
                <a:latin typeface="Gill Sans"/>
                <a:ea typeface="Gill Sans"/>
                <a:cs typeface="Gill Sans"/>
                <a:sym typeface="Gill Sans"/>
              </a:rPr>
              <a:t>C=aL</a:t>
            </a:r>
            <a:r>
              <a:rPr b="1" baseline="30000" i="0" lang="en-US" sz="2600" u="none">
                <a:solidFill>
                  <a:schemeClr val="dk1"/>
                </a:solidFill>
                <a:latin typeface="Gill Sans"/>
                <a:ea typeface="Gill Sans"/>
                <a:cs typeface="Gill Sans"/>
                <a:sym typeface="Gill Sans"/>
              </a:rPr>
              <a:t>b</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Where</a:t>
            </a:r>
            <a:r>
              <a:rPr b="0" i="0" lang="en-US" sz="2600" u="none">
                <a:solidFill>
                  <a:schemeClr val="dk1"/>
                </a:solidFill>
                <a:latin typeface="Gill Sans"/>
                <a:ea typeface="Gill Sans"/>
                <a:cs typeface="Gill Sans"/>
                <a:sym typeface="Gill Sans"/>
              </a:rPr>
              <a:t>    C = Costs</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L= size</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a and b are constants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The Software Engineering Laboratory established a model called SEL model, for estimating its software production.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Static, Single Variable Models cont..</a:t>
            </a:r>
            <a:endParaRPr/>
          </a:p>
        </p:txBody>
      </p:sp>
      <p:sp>
        <p:nvSpPr>
          <p:cNvPr id="219" name="Google Shape;219;p24"/>
          <p:cNvSpPr txBox="1"/>
          <p:nvPr>
            <p:ph idx="1" type="body"/>
          </p:nvPr>
        </p:nvSpPr>
        <p:spPr>
          <a:xfrm>
            <a:off x="457200" y="1219200"/>
            <a:ext cx="8686800" cy="56388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This model is an example of the static, single variable model.</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E=1.4L</a:t>
            </a:r>
            <a:r>
              <a:rPr b="0" baseline="30000" i="0" lang="en-US" sz="2600" u="none">
                <a:solidFill>
                  <a:schemeClr val="dk1"/>
                </a:solidFill>
                <a:latin typeface="Gill Sans"/>
                <a:ea typeface="Gill Sans"/>
                <a:cs typeface="Gill Sans"/>
                <a:sym typeface="Gill Sans"/>
              </a:rPr>
              <a:t>0.93</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DOC=30.4L</a:t>
            </a:r>
            <a:r>
              <a:rPr b="0" baseline="30000" i="0" lang="en-US" sz="2600" u="none">
                <a:solidFill>
                  <a:schemeClr val="dk1"/>
                </a:solidFill>
                <a:latin typeface="Gill Sans"/>
                <a:ea typeface="Gill Sans"/>
                <a:cs typeface="Gill Sans"/>
                <a:sym typeface="Gill Sans"/>
              </a:rPr>
              <a:t>0.90</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D=4.6L</a:t>
            </a:r>
            <a:r>
              <a:rPr b="0" baseline="30000" i="0" lang="en-US" sz="2600" u="none">
                <a:solidFill>
                  <a:schemeClr val="dk1"/>
                </a:solidFill>
                <a:latin typeface="Gill Sans"/>
                <a:ea typeface="Gill Sans"/>
                <a:cs typeface="Gill Sans"/>
                <a:sym typeface="Gill Sans"/>
              </a:rPr>
              <a:t>0.26</a:t>
            </a:r>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rPr b="1" i="0" lang="en-US" sz="2600" u="none">
                <a:solidFill>
                  <a:schemeClr val="dk1"/>
                </a:solidFill>
                <a:latin typeface="Gill Sans"/>
                <a:ea typeface="Gill Sans"/>
                <a:cs typeface="Gill Sans"/>
                <a:sym typeface="Gill Sans"/>
              </a:rPr>
              <a:t>Where</a:t>
            </a:r>
            <a:r>
              <a:rPr b="0" i="0" lang="en-US" sz="2600" u="none">
                <a:solidFill>
                  <a:schemeClr val="dk1"/>
                </a:solidFill>
                <a:latin typeface="Gill Sans"/>
                <a:ea typeface="Gill Sans"/>
                <a:cs typeface="Gill Sans"/>
                <a:sym typeface="Gill Sans"/>
              </a:rPr>
              <a:t>       E= Efforts (Person Per Month)</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DOC=Documentation (Number of Pages)</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 = Duration (D, in months)</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L = Number of Lines per code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Static, Multivariable Models</a:t>
            </a:r>
            <a:endParaRPr/>
          </a:p>
        </p:txBody>
      </p:sp>
      <p:sp>
        <p:nvSpPr>
          <p:cNvPr id="225" name="Google Shape;225;p25"/>
          <p:cNvSpPr txBox="1"/>
          <p:nvPr>
            <p:ph idx="1" type="body"/>
          </p:nvPr>
        </p:nvSpPr>
        <p:spPr>
          <a:xfrm>
            <a:off x="457200" y="1219200"/>
            <a:ext cx="8686800" cy="56388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This model depends on several variables describing various aspects of the software development environment. In some model, several variables are needed to describe the software development process, and selected equation combined these variables to give the estimate of time &amp; cost. These models are called multivariable models.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WALSTON and FELIX develop the models at IBM provide the following equation gives a relationship between lines of source code and effort:</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a:t>
            </a:r>
            <a:r>
              <a:rPr b="1" i="0" lang="en-US" sz="2600" u="none">
                <a:solidFill>
                  <a:schemeClr val="dk1"/>
                </a:solidFill>
                <a:latin typeface="Gill Sans"/>
                <a:ea typeface="Gill Sans"/>
                <a:cs typeface="Gill Sans"/>
                <a:sym typeface="Gill Sans"/>
              </a:rPr>
              <a:t>E=5.2L</a:t>
            </a:r>
            <a:r>
              <a:rPr b="1" baseline="30000" i="0" lang="en-US" sz="2600" u="none">
                <a:solidFill>
                  <a:schemeClr val="dk1"/>
                </a:solidFill>
                <a:latin typeface="Gill Sans"/>
                <a:ea typeface="Gill Sans"/>
                <a:cs typeface="Gill Sans"/>
                <a:sym typeface="Gill Sans"/>
              </a:rPr>
              <a:t>0.91</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Static, Multivariable Models cont..</a:t>
            </a:r>
            <a:endParaRPr/>
          </a:p>
        </p:txBody>
      </p:sp>
      <p:sp>
        <p:nvSpPr>
          <p:cNvPr id="231" name="Google Shape;231;p26"/>
          <p:cNvSpPr txBox="1"/>
          <p:nvPr>
            <p:ph idx="1" type="body"/>
          </p:nvPr>
        </p:nvSpPr>
        <p:spPr>
          <a:xfrm>
            <a:off x="457200" y="1219200"/>
            <a:ext cx="8458200" cy="51054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In the same manner duration of development is given by</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a:t>
            </a:r>
            <a:r>
              <a:rPr b="1" i="0" lang="en-US" sz="2600" u="none">
                <a:solidFill>
                  <a:schemeClr val="dk1"/>
                </a:solidFill>
                <a:latin typeface="Gill Sans"/>
                <a:ea typeface="Gill Sans"/>
                <a:cs typeface="Gill Sans"/>
                <a:sym typeface="Gill Sans"/>
              </a:rPr>
              <a:t>D=4.1L</a:t>
            </a:r>
            <a:r>
              <a:rPr b="1" baseline="30000" i="0" lang="en-US" sz="2600" u="none">
                <a:solidFill>
                  <a:schemeClr val="dk1"/>
                </a:solidFill>
                <a:latin typeface="Gill Sans"/>
                <a:ea typeface="Gill Sans"/>
                <a:cs typeface="Gill Sans"/>
                <a:sym typeface="Gill Sans"/>
              </a:rPr>
              <a:t>0.36</a:t>
            </a:r>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The productivity index uses 29 variables which are found to be highly correlated productivity as follows:</a:t>
            </a:r>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Where </a:t>
            </a:r>
            <a:r>
              <a:rPr b="1" i="0" lang="en-US" sz="2600" u="none">
                <a:solidFill>
                  <a:schemeClr val="dk1"/>
                </a:solidFill>
                <a:latin typeface="Gill Sans"/>
                <a:ea typeface="Gill Sans"/>
                <a:cs typeface="Gill Sans"/>
                <a:sym typeface="Gill Sans"/>
              </a:rPr>
              <a:t>W</a:t>
            </a:r>
            <a:r>
              <a:rPr b="1" baseline="-25000" i="0" lang="en-US" sz="2600" u="none">
                <a:solidFill>
                  <a:schemeClr val="dk1"/>
                </a:solidFill>
                <a:latin typeface="Gill Sans"/>
                <a:ea typeface="Gill Sans"/>
                <a:cs typeface="Gill Sans"/>
                <a:sym typeface="Gill Sans"/>
              </a:rPr>
              <a:t>i</a:t>
            </a:r>
            <a:r>
              <a:rPr b="0" i="0" lang="en-US" sz="2600" u="none">
                <a:solidFill>
                  <a:schemeClr val="dk1"/>
                </a:solidFill>
                <a:latin typeface="Gill Sans"/>
                <a:ea typeface="Gill Sans"/>
                <a:cs typeface="Gill Sans"/>
                <a:sym typeface="Gill Sans"/>
              </a:rPr>
              <a:t> is the weight factor for the </a:t>
            </a:r>
            <a:r>
              <a:rPr b="1" i="0" lang="en-US" sz="2600" u="none">
                <a:solidFill>
                  <a:schemeClr val="dk1"/>
                </a:solidFill>
                <a:latin typeface="Gill Sans"/>
                <a:ea typeface="Gill Sans"/>
                <a:cs typeface="Gill Sans"/>
                <a:sym typeface="Gill Sans"/>
              </a:rPr>
              <a:t>i</a:t>
            </a:r>
            <a:r>
              <a:rPr b="1" baseline="30000" i="0" lang="en-US" sz="2600" u="none">
                <a:solidFill>
                  <a:schemeClr val="dk1"/>
                </a:solidFill>
                <a:latin typeface="Gill Sans"/>
                <a:ea typeface="Gill Sans"/>
                <a:cs typeface="Gill Sans"/>
                <a:sym typeface="Gill Sans"/>
              </a:rPr>
              <a:t>th </a:t>
            </a:r>
            <a:r>
              <a:rPr b="0" i="0" lang="en-US" sz="2600" u="none">
                <a:solidFill>
                  <a:schemeClr val="dk1"/>
                </a:solidFill>
                <a:latin typeface="Gill Sans"/>
                <a:ea typeface="Gill Sans"/>
                <a:cs typeface="Gill Sans"/>
                <a:sym typeface="Gill Sans"/>
              </a:rPr>
              <a:t>variable and </a:t>
            </a:r>
            <a:r>
              <a:rPr b="1" i="0" lang="en-US" sz="2600" u="none">
                <a:solidFill>
                  <a:schemeClr val="dk1"/>
                </a:solidFill>
                <a:latin typeface="Gill Sans"/>
                <a:ea typeface="Gill Sans"/>
                <a:cs typeface="Gill Sans"/>
                <a:sym typeface="Gill Sans"/>
              </a:rPr>
              <a:t>X</a:t>
            </a:r>
            <a:r>
              <a:rPr b="1" baseline="-25000" i="0" lang="en-US" sz="2600" u="none">
                <a:solidFill>
                  <a:schemeClr val="dk1"/>
                </a:solidFill>
                <a:latin typeface="Gill Sans"/>
                <a:ea typeface="Gill Sans"/>
                <a:cs typeface="Gill Sans"/>
                <a:sym typeface="Gill Sans"/>
              </a:rPr>
              <a:t>i</a:t>
            </a:r>
            <a:r>
              <a:rPr b="1" i="0" lang="en-US" sz="2600" u="none">
                <a:solidFill>
                  <a:schemeClr val="dk1"/>
                </a:solidFill>
                <a:latin typeface="Gill Sans"/>
                <a:ea typeface="Gill Sans"/>
                <a:cs typeface="Gill Sans"/>
                <a:sym typeface="Gill Sans"/>
              </a:rPr>
              <a:t>={-1,0,+1}</a:t>
            </a:r>
            <a:r>
              <a:rPr b="0" i="0" lang="en-US" sz="2600" u="none">
                <a:solidFill>
                  <a:schemeClr val="dk1"/>
                </a:solidFill>
                <a:latin typeface="Gill Sans"/>
                <a:ea typeface="Gill Sans"/>
                <a:cs typeface="Gill Sans"/>
                <a:sym typeface="Gill Sans"/>
              </a:rPr>
              <a:t> the estimator gives </a:t>
            </a:r>
            <a:r>
              <a:rPr b="1" i="0" lang="en-US" sz="2600" u="none">
                <a:solidFill>
                  <a:schemeClr val="dk1"/>
                </a:solidFill>
                <a:latin typeface="Gill Sans"/>
                <a:ea typeface="Gill Sans"/>
                <a:cs typeface="Gill Sans"/>
                <a:sym typeface="Gill Sans"/>
              </a:rPr>
              <a:t>X</a:t>
            </a:r>
            <a:r>
              <a:rPr b="1" baseline="-25000" i="0" lang="en-US" sz="2600" u="none">
                <a:solidFill>
                  <a:schemeClr val="dk1"/>
                </a:solidFill>
                <a:latin typeface="Gill Sans"/>
                <a:ea typeface="Gill Sans"/>
                <a:cs typeface="Gill Sans"/>
                <a:sym typeface="Gill Sans"/>
              </a:rPr>
              <a:t>i </a:t>
            </a:r>
            <a:r>
              <a:rPr b="0" i="0" lang="en-US" sz="2600" u="none">
                <a:solidFill>
                  <a:schemeClr val="dk1"/>
                </a:solidFill>
                <a:latin typeface="Gill Sans"/>
                <a:ea typeface="Gill Sans"/>
                <a:cs typeface="Gill Sans"/>
                <a:sym typeface="Gill Sans"/>
              </a:rPr>
              <a:t>one of the values </a:t>
            </a:r>
            <a:r>
              <a:rPr b="1" i="0" lang="en-US" sz="2600" u="none">
                <a:solidFill>
                  <a:schemeClr val="dk1"/>
                </a:solidFill>
                <a:latin typeface="Gill Sans"/>
                <a:ea typeface="Gill Sans"/>
                <a:cs typeface="Gill Sans"/>
                <a:sym typeface="Gill Sans"/>
              </a:rPr>
              <a:t>-1, 0 or +1</a:t>
            </a:r>
            <a:r>
              <a:rPr b="0" i="0" lang="en-US" sz="2600" u="none">
                <a:solidFill>
                  <a:schemeClr val="dk1"/>
                </a:solidFill>
                <a:latin typeface="Gill Sans"/>
                <a:ea typeface="Gill Sans"/>
                <a:cs typeface="Gill Sans"/>
                <a:sym typeface="Gill Sans"/>
              </a:rPr>
              <a:t> depending on the variable decreases, has no effect or increases the productivity.</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pic>
        <p:nvPicPr>
          <p:cNvPr descr="Software Cost Estimation" id="232" name="Google Shape;232;p26"/>
          <p:cNvPicPr preferRelativeResize="0"/>
          <p:nvPr/>
        </p:nvPicPr>
        <p:blipFill rotWithShape="1">
          <a:blip r:embed="rId3">
            <a:alphaModFix/>
          </a:blip>
          <a:srcRect b="0" l="0" r="0" t="0"/>
          <a:stretch/>
        </p:blipFill>
        <p:spPr>
          <a:xfrm>
            <a:off x="2667000" y="3505200"/>
            <a:ext cx="2971800" cy="54133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Example</a:t>
            </a:r>
            <a:endParaRPr/>
          </a:p>
        </p:txBody>
      </p:sp>
      <p:sp>
        <p:nvSpPr>
          <p:cNvPr id="238" name="Google Shape;238;p27"/>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None/>
            </a:pPr>
            <a:r>
              <a:rPr b="0" i="1" lang="en-US" sz="2600" u="none">
                <a:solidFill>
                  <a:schemeClr val="dk1"/>
                </a:solidFill>
                <a:latin typeface="Gill Sans"/>
                <a:ea typeface="Gill Sans"/>
                <a:cs typeface="Gill Sans"/>
                <a:sym typeface="Gill Sans"/>
              </a:rPr>
              <a:t>Compare the Walston-Felix Model with the SEL model on a software development expected to involve 8 person-years of effort.</a:t>
            </a:r>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0" i="1"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Bookman Old Style"/>
              <a:buAutoNum type="alphaLcParenR"/>
            </a:pPr>
            <a:r>
              <a:rPr b="0" i="0" lang="en-US" sz="2600" u="none">
                <a:solidFill>
                  <a:schemeClr val="dk1"/>
                </a:solidFill>
                <a:latin typeface="Gill Sans"/>
                <a:ea typeface="Gill Sans"/>
                <a:cs typeface="Gill Sans"/>
                <a:sym typeface="Gill Sans"/>
              </a:rPr>
              <a:t>Calculate the number of lines of source code that can be produced.</a:t>
            </a:r>
            <a:endParaRPr/>
          </a:p>
          <a:p>
            <a:pPr indent="-273050" lvl="0" marL="273050" marR="0" rtl="0" algn="l">
              <a:lnSpc>
                <a:spcPct val="100000"/>
              </a:lnSpc>
              <a:spcBef>
                <a:spcPts val="600"/>
              </a:spcBef>
              <a:spcAft>
                <a:spcPts val="0"/>
              </a:spcAft>
              <a:buClr>
                <a:schemeClr val="accent1"/>
              </a:buClr>
              <a:buSzPts val="1976"/>
              <a:buFont typeface="Bookman Old Style"/>
              <a:buAutoNum type="alphaLcParenR"/>
            </a:pPr>
            <a:r>
              <a:rPr b="0" i="0" lang="en-US" sz="2600" u="none">
                <a:solidFill>
                  <a:schemeClr val="dk1"/>
                </a:solidFill>
                <a:latin typeface="Gill Sans"/>
                <a:ea typeface="Gill Sans"/>
                <a:cs typeface="Gill Sans"/>
                <a:sym typeface="Gill Sans"/>
              </a:rPr>
              <a:t>Calculate the duration of the development.</a:t>
            </a:r>
            <a:endParaRPr/>
          </a:p>
          <a:p>
            <a:pPr indent="-273050" lvl="0" marL="273050" marR="0" rtl="0" algn="l">
              <a:lnSpc>
                <a:spcPct val="100000"/>
              </a:lnSpc>
              <a:spcBef>
                <a:spcPts val="600"/>
              </a:spcBef>
              <a:spcAft>
                <a:spcPts val="0"/>
              </a:spcAft>
              <a:buClr>
                <a:schemeClr val="accent1"/>
              </a:buClr>
              <a:buSzPts val="1976"/>
              <a:buFont typeface="Bookman Old Style"/>
              <a:buAutoNum type="alphaLcParenR"/>
            </a:pPr>
            <a:r>
              <a:rPr b="0" i="0" lang="en-US" sz="2600" u="none">
                <a:solidFill>
                  <a:schemeClr val="dk1"/>
                </a:solidFill>
                <a:latin typeface="Gill Sans"/>
                <a:ea typeface="Gill Sans"/>
                <a:cs typeface="Gill Sans"/>
                <a:sym typeface="Gill Sans"/>
              </a:rPr>
              <a:t>Calculate the productivity in LOC/PY</a:t>
            </a:r>
            <a:endParaRPr/>
          </a:p>
          <a:p>
            <a:pPr indent="-273050" lvl="0" marL="273050" marR="0" rtl="0" algn="l">
              <a:lnSpc>
                <a:spcPct val="100000"/>
              </a:lnSpc>
              <a:spcBef>
                <a:spcPts val="600"/>
              </a:spcBef>
              <a:spcAft>
                <a:spcPts val="0"/>
              </a:spcAft>
              <a:buClr>
                <a:schemeClr val="accent1"/>
              </a:buClr>
              <a:buSzPts val="1976"/>
              <a:buFont typeface="Bookman Old Style"/>
              <a:buAutoNum type="alphaLcParenR"/>
            </a:pPr>
            <a:r>
              <a:rPr b="0" i="0" lang="en-US" sz="2600" u="none">
                <a:solidFill>
                  <a:schemeClr val="dk1"/>
                </a:solidFill>
                <a:latin typeface="Gill Sans"/>
                <a:ea typeface="Gill Sans"/>
                <a:cs typeface="Gill Sans"/>
                <a:sym typeface="Gill Sans"/>
              </a:rPr>
              <a:t>Calculate the average manning</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26484e132b5_5_0"/>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g26484e132b5_5_0"/>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26484e132b5_5_6"/>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26484e132b5_5_6"/>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26484e132b5_5_12"/>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g26484e132b5_5_12"/>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26484e132b5_5_18"/>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g26484e132b5_5_18"/>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26484e132b5_5_24"/>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26484e132b5_5_24"/>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26484e132b5_5_30"/>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26484e132b5_5_30"/>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26484e132b5_5_42"/>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26484e132b5_5_42"/>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g26484e132b5_5_54"/>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26484e132b5_5_54"/>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26484e132b5_5_60"/>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g26484e132b5_5_60"/>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26484e132b5_5_66"/>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g26484e132b5_5_66"/>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26484e132b5_5_72"/>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26484e132b5_5_72"/>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26484e132b5_5_78"/>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26484e132b5_5_78"/>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26484e132b5_5_84"/>
          <p:cNvSpPr txBox="1"/>
          <p:nvPr>
            <p:ph type="title"/>
          </p:nvPr>
        </p:nvSpPr>
        <p:spPr>
          <a:xfrm>
            <a:off x="457200" y="152400"/>
            <a:ext cx="8229600" cy="9906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g26484e132b5_5_84"/>
          <p:cNvSpPr txBox="1"/>
          <p:nvPr>
            <p:ph idx="1" type="body"/>
          </p:nvPr>
        </p:nvSpPr>
        <p:spPr>
          <a:xfrm>
            <a:off x="457200" y="1219200"/>
            <a:ext cx="8229600" cy="4937700"/>
          </a:xfrm>
          <a:prstGeom prst="rect">
            <a:avLst/>
          </a:prstGeom>
        </p:spPr>
        <p:txBody>
          <a:bodyPr anchorCtr="0" anchor="t" bIns="45700" lIns="91425" spcFirstLastPara="1" rIns="91425" wrap="square" tIns="45700">
            <a:noAutofit/>
          </a:bodyPr>
          <a:lstStyle/>
          <a:p>
            <a:pPr indent="0" lvl="0" marL="0" rtl="0" algn="l">
              <a:spcBef>
                <a:spcPts val="60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Example cont..</a:t>
            </a:r>
            <a:endParaRPr/>
          </a:p>
        </p:txBody>
      </p:sp>
      <p:sp>
        <p:nvSpPr>
          <p:cNvPr id="335" name="Google Shape;335;p28"/>
          <p:cNvSpPr txBox="1"/>
          <p:nvPr>
            <p:ph idx="1" type="body"/>
          </p:nvPr>
        </p:nvSpPr>
        <p:spPr>
          <a:xfrm>
            <a:off x="304800" y="1219200"/>
            <a:ext cx="8610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The amount of manpower involved = 8PY = 8x12 = 96 persons-months</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(a)Number of lines of source code can be obtained by reversing equation to give:</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Then</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L (SEL) = (96/1.4)</a:t>
            </a:r>
            <a:r>
              <a:rPr b="0" baseline="30000" i="0" lang="en-US" sz="2600" u="none">
                <a:solidFill>
                  <a:schemeClr val="dk1"/>
                </a:solidFill>
                <a:latin typeface="Gill Sans"/>
                <a:ea typeface="Gill Sans"/>
                <a:cs typeface="Gill Sans"/>
                <a:sym typeface="Gill Sans"/>
              </a:rPr>
              <a:t>1⁄0.93</a:t>
            </a:r>
            <a:r>
              <a:rPr b="0" i="0" lang="en-US" sz="2600" u="none">
                <a:solidFill>
                  <a:schemeClr val="dk1"/>
                </a:solidFill>
                <a:latin typeface="Gill Sans"/>
                <a:ea typeface="Gill Sans"/>
                <a:cs typeface="Gill Sans"/>
                <a:sym typeface="Gill Sans"/>
              </a:rPr>
              <a:t>=94264 LOC</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L (W-F) = (96/5.2)</a:t>
            </a:r>
            <a:r>
              <a:rPr b="0" baseline="30000" i="0" lang="en-US" sz="2600" u="none">
                <a:solidFill>
                  <a:schemeClr val="dk1"/>
                </a:solidFill>
                <a:latin typeface="Gill Sans"/>
                <a:ea typeface="Gill Sans"/>
                <a:cs typeface="Gill Sans"/>
                <a:sym typeface="Gill Sans"/>
              </a:rPr>
              <a:t>1⁄0.91</a:t>
            </a:r>
            <a:r>
              <a:rPr b="0" i="0" lang="en-US" sz="2600" u="none">
                <a:solidFill>
                  <a:schemeClr val="dk1"/>
                </a:solidFill>
                <a:latin typeface="Gill Sans"/>
                <a:ea typeface="Gill Sans"/>
                <a:cs typeface="Gill Sans"/>
                <a:sym typeface="Gill Sans"/>
              </a:rPr>
              <a:t>=24632 LOC</a:t>
            </a:r>
            <a:endParaRPr/>
          </a:p>
        </p:txBody>
      </p:sp>
      <p:pic>
        <p:nvPicPr>
          <p:cNvPr descr="Software Cost Estimation" id="336" name="Google Shape;336;p28"/>
          <p:cNvPicPr preferRelativeResize="0"/>
          <p:nvPr/>
        </p:nvPicPr>
        <p:blipFill rotWithShape="1">
          <a:blip r:embed="rId3">
            <a:alphaModFix/>
          </a:blip>
          <a:srcRect b="0" l="0" r="0" t="0"/>
          <a:stretch/>
        </p:blipFill>
        <p:spPr>
          <a:xfrm>
            <a:off x="4495800" y="2514600"/>
            <a:ext cx="2867025" cy="6858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Example cont..</a:t>
            </a:r>
            <a:endParaRPr/>
          </a:p>
        </p:txBody>
      </p:sp>
      <p:sp>
        <p:nvSpPr>
          <p:cNvPr id="342" name="Google Shape;342;p29"/>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(b)Duration in months can be calculated by means of equation </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D (SEL) = 4.6 (L) </a:t>
            </a:r>
            <a:r>
              <a:rPr b="0" baseline="30000" i="0" lang="en-US" sz="2600" u="none">
                <a:solidFill>
                  <a:schemeClr val="dk1"/>
                </a:solidFill>
                <a:latin typeface="Gill Sans"/>
                <a:ea typeface="Gill Sans"/>
                <a:cs typeface="Gill Sans"/>
                <a:sym typeface="Gill Sans"/>
              </a:rPr>
              <a:t>0.26</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 4.6 (94.264)</a:t>
            </a:r>
            <a:r>
              <a:rPr b="0" baseline="30000" i="0" lang="en-US" sz="2600" u="none">
                <a:solidFill>
                  <a:schemeClr val="dk1"/>
                </a:solidFill>
                <a:latin typeface="Gill Sans"/>
                <a:ea typeface="Gill Sans"/>
                <a:cs typeface="Gill Sans"/>
                <a:sym typeface="Gill Sans"/>
              </a:rPr>
              <a:t>0.26</a:t>
            </a:r>
            <a:r>
              <a:rPr b="0" i="0" lang="en-US" sz="2600" u="none">
                <a:solidFill>
                  <a:schemeClr val="dk1"/>
                </a:solidFill>
                <a:latin typeface="Gill Sans"/>
                <a:ea typeface="Gill Sans"/>
                <a:cs typeface="Gill Sans"/>
                <a:sym typeface="Gill Sans"/>
              </a:rPr>
              <a:t> = 15 months</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 (W-F) = 4.1 L</a:t>
            </a:r>
            <a:r>
              <a:rPr b="0" baseline="30000" i="0" lang="en-US" sz="2600" u="none">
                <a:solidFill>
                  <a:schemeClr val="dk1"/>
                </a:solidFill>
                <a:latin typeface="Gill Sans"/>
                <a:ea typeface="Gill Sans"/>
                <a:cs typeface="Gill Sans"/>
                <a:sym typeface="Gill Sans"/>
              </a:rPr>
              <a:t>0.36</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 4.1 (24.632)</a:t>
            </a:r>
            <a:r>
              <a:rPr b="0" baseline="30000" i="0" lang="en-US" sz="2600" u="none">
                <a:solidFill>
                  <a:schemeClr val="dk1"/>
                </a:solidFill>
                <a:latin typeface="Gill Sans"/>
                <a:ea typeface="Gill Sans"/>
                <a:cs typeface="Gill Sans"/>
                <a:sym typeface="Gill Sans"/>
              </a:rPr>
              <a:t>0.36</a:t>
            </a:r>
            <a:r>
              <a:rPr b="0" i="0" lang="en-US" sz="2600" u="none">
                <a:solidFill>
                  <a:schemeClr val="dk1"/>
                </a:solidFill>
                <a:latin typeface="Gill Sans"/>
                <a:ea typeface="Gill Sans"/>
                <a:cs typeface="Gill Sans"/>
                <a:sym typeface="Gill Sans"/>
              </a:rPr>
              <a:t> = 13 months</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(c) Productivity is the lines of code produced per persons/month (year)</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pic>
        <p:nvPicPr>
          <p:cNvPr descr="Software Cost Estimation" id="343" name="Google Shape;343;p29"/>
          <p:cNvPicPr preferRelativeResize="0"/>
          <p:nvPr/>
        </p:nvPicPr>
        <p:blipFill rotWithShape="1">
          <a:blip r:embed="rId3">
            <a:alphaModFix/>
          </a:blip>
          <a:srcRect b="0" l="0" r="0" t="0"/>
          <a:stretch/>
        </p:blipFill>
        <p:spPr>
          <a:xfrm>
            <a:off x="1143000" y="4800600"/>
            <a:ext cx="5410200" cy="12890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Example cont..</a:t>
            </a:r>
            <a:endParaRPr/>
          </a:p>
        </p:txBody>
      </p:sp>
      <p:sp>
        <p:nvSpPr>
          <p:cNvPr id="349" name="Google Shape;349;p30"/>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(d) Average manning is the average number of persons required per month in the project</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a:t>
            </a:r>
            <a:endParaRPr/>
          </a:p>
        </p:txBody>
      </p:sp>
      <p:pic>
        <p:nvPicPr>
          <p:cNvPr descr="Software Cost Estimation" id="350" name="Google Shape;350;p30"/>
          <p:cNvPicPr preferRelativeResize="0"/>
          <p:nvPr/>
        </p:nvPicPr>
        <p:blipFill rotWithShape="1">
          <a:blip r:embed="rId3">
            <a:alphaModFix/>
          </a:blip>
          <a:srcRect b="0" l="0" r="0" t="0"/>
          <a:stretch/>
        </p:blipFill>
        <p:spPr>
          <a:xfrm>
            <a:off x="1524000" y="2514600"/>
            <a:ext cx="4203700" cy="1246187"/>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1"/>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a:t>
            </a:r>
            <a:endParaRPr/>
          </a:p>
        </p:txBody>
      </p:sp>
      <p:sp>
        <p:nvSpPr>
          <p:cNvPr id="357" name="Google Shape;357;p31"/>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It is a dynamic software cost estimation approach</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The COCOMO (Constructive Cost Model) is a well-known software cost estimation model that was initially proposed by Barry Boehm in 1981. </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The COCOMO model is primarily used for estimating the cost of software development. </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The COCOMO is a widely used model for </a:t>
            </a:r>
            <a:r>
              <a:rPr b="1" i="0" lang="en-US" sz="2600" u="none">
                <a:solidFill>
                  <a:schemeClr val="dk1"/>
                </a:solidFill>
                <a:latin typeface="Gill Sans"/>
                <a:ea typeface="Gill Sans"/>
                <a:cs typeface="Gill Sans"/>
                <a:sym typeface="Gill Sans"/>
              </a:rPr>
              <a:t>estimating the effort</a:t>
            </a:r>
            <a:r>
              <a:rPr b="0" i="0" lang="en-US" sz="2600" u="none">
                <a:solidFill>
                  <a:schemeClr val="dk1"/>
                </a:solidFill>
                <a:latin typeface="Gill Sans"/>
                <a:ea typeface="Gill Sans"/>
                <a:cs typeface="Gill Sans"/>
                <a:sym typeface="Gill Sans"/>
              </a:rPr>
              <a:t> and </a:t>
            </a:r>
            <a:r>
              <a:rPr b="1" i="0" lang="en-US" sz="2600" u="none">
                <a:solidFill>
                  <a:schemeClr val="dk1"/>
                </a:solidFill>
                <a:latin typeface="Gill Sans"/>
                <a:ea typeface="Gill Sans"/>
                <a:cs typeface="Gill Sans"/>
                <a:sym typeface="Gill Sans"/>
              </a:rPr>
              <a:t>cost</a:t>
            </a:r>
            <a:r>
              <a:rPr b="0" i="0" lang="en-US" sz="2600" u="none">
                <a:solidFill>
                  <a:schemeClr val="dk1"/>
                </a:solidFill>
                <a:latin typeface="Gill Sans"/>
                <a:ea typeface="Gill Sans"/>
                <a:cs typeface="Gill Sans"/>
                <a:sym typeface="Gill Sans"/>
              </a:rPr>
              <a:t> of software development projects.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COCOMO is based on the idea that the </a:t>
            </a:r>
            <a:r>
              <a:rPr b="1" i="0" lang="en-US" sz="2600" u="none">
                <a:solidFill>
                  <a:schemeClr val="dk1"/>
                </a:solidFill>
                <a:latin typeface="Gill Sans"/>
                <a:ea typeface="Gill Sans"/>
                <a:cs typeface="Gill Sans"/>
                <a:sym typeface="Gill Sans"/>
              </a:rPr>
              <a:t>effort required </a:t>
            </a:r>
            <a:r>
              <a:rPr b="0" i="0" lang="en-US" sz="2600" u="none">
                <a:solidFill>
                  <a:schemeClr val="dk1"/>
                </a:solidFill>
                <a:latin typeface="Gill Sans"/>
                <a:ea typeface="Gill Sans"/>
                <a:cs typeface="Gill Sans"/>
                <a:sym typeface="Gill Sans"/>
              </a:rPr>
              <a:t>for a software project is </a:t>
            </a:r>
            <a:r>
              <a:rPr b="1" i="0" lang="en-US" sz="2600" u="none">
                <a:solidFill>
                  <a:schemeClr val="dk1"/>
                </a:solidFill>
                <a:latin typeface="Gill Sans"/>
                <a:ea typeface="Gill Sans"/>
                <a:cs typeface="Gill Sans"/>
                <a:sym typeface="Gill Sans"/>
              </a:rPr>
              <a:t>proportional to the size</a:t>
            </a:r>
            <a:r>
              <a:rPr b="0" i="0" lang="en-US" sz="2600" u="none">
                <a:solidFill>
                  <a:schemeClr val="dk1"/>
                </a:solidFill>
                <a:latin typeface="Gill Sans"/>
                <a:ea typeface="Gill Sans"/>
                <a:cs typeface="Gill Sans"/>
                <a:sym typeface="Gill Sans"/>
              </a:rPr>
              <a:t> and </a:t>
            </a:r>
            <a:r>
              <a:rPr b="1" i="0" lang="en-US" sz="2600" u="none">
                <a:solidFill>
                  <a:schemeClr val="dk1"/>
                </a:solidFill>
                <a:latin typeface="Gill Sans"/>
                <a:ea typeface="Gill Sans"/>
                <a:cs typeface="Gill Sans"/>
                <a:sym typeface="Gill Sans"/>
              </a:rPr>
              <a:t>complexity</a:t>
            </a:r>
            <a:r>
              <a:rPr b="0" i="0" lang="en-US" sz="2600" u="none">
                <a:solidFill>
                  <a:schemeClr val="dk1"/>
                </a:solidFill>
                <a:latin typeface="Gill Sans"/>
                <a:ea typeface="Gill Sans"/>
                <a:cs typeface="Gill Sans"/>
                <a:sym typeface="Gill Sans"/>
              </a:rPr>
              <a:t> of the project.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2"/>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363" name="Google Shape;363;p32"/>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None/>
            </a:pPr>
            <a:r>
              <a:rPr b="1" i="0" lang="en-US" sz="2600" u="none">
                <a:solidFill>
                  <a:schemeClr val="dk1"/>
                </a:solidFill>
                <a:latin typeface="Gill Sans"/>
                <a:ea typeface="Gill Sans"/>
                <a:cs typeface="Gill Sans"/>
                <a:sym typeface="Gill Sans"/>
              </a:rPr>
              <a:t>The necessary steps in this model are:</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Bookman Old Style"/>
              <a:buAutoNum type="arabicPeriod"/>
            </a:pPr>
            <a:r>
              <a:rPr b="0" i="0" lang="en-US" sz="2600" u="none">
                <a:solidFill>
                  <a:schemeClr val="dk1"/>
                </a:solidFill>
                <a:latin typeface="Gill Sans"/>
                <a:ea typeface="Gill Sans"/>
                <a:cs typeface="Gill Sans"/>
                <a:sym typeface="Gill Sans"/>
              </a:rPr>
              <a:t>Get an initial estimate of the development effort from evaluation of thousands of delivered lines of source code (KDLOC).</a:t>
            </a:r>
            <a:endParaRPr/>
          </a:p>
          <a:p>
            <a:pPr indent="-273050" lvl="0" marL="273050" marR="0" rtl="0" algn="l">
              <a:lnSpc>
                <a:spcPct val="100000"/>
              </a:lnSpc>
              <a:spcBef>
                <a:spcPts val="600"/>
              </a:spcBef>
              <a:spcAft>
                <a:spcPts val="0"/>
              </a:spcAft>
              <a:buClr>
                <a:schemeClr val="accent1"/>
              </a:buClr>
              <a:buSzPts val="1976"/>
              <a:buFont typeface="Bookman Old Style"/>
              <a:buAutoNum type="arabicPeriod"/>
            </a:pPr>
            <a:r>
              <a:rPr b="0" i="0" lang="en-US" sz="2600" u="none">
                <a:solidFill>
                  <a:schemeClr val="dk1"/>
                </a:solidFill>
                <a:latin typeface="Gill Sans"/>
                <a:ea typeface="Gill Sans"/>
                <a:cs typeface="Gill Sans"/>
                <a:sym typeface="Gill Sans"/>
              </a:rPr>
              <a:t>Determine a set of 15 multiplying factors from various attributes of the project.</a:t>
            </a:r>
            <a:endParaRPr/>
          </a:p>
          <a:p>
            <a:pPr indent="-273050" lvl="0" marL="273050" marR="0" rtl="0" algn="l">
              <a:lnSpc>
                <a:spcPct val="100000"/>
              </a:lnSpc>
              <a:spcBef>
                <a:spcPts val="600"/>
              </a:spcBef>
              <a:spcAft>
                <a:spcPts val="0"/>
              </a:spcAft>
              <a:buClr>
                <a:schemeClr val="accent1"/>
              </a:buClr>
              <a:buSzPts val="1976"/>
              <a:buFont typeface="Bookman Old Style"/>
              <a:buAutoNum type="arabicPeriod"/>
            </a:pPr>
            <a:r>
              <a:rPr b="0" i="0" lang="en-US" sz="2600" u="none">
                <a:solidFill>
                  <a:schemeClr val="dk1"/>
                </a:solidFill>
                <a:latin typeface="Gill Sans"/>
                <a:ea typeface="Gill Sans"/>
                <a:cs typeface="Gill Sans"/>
                <a:sym typeface="Gill Sans"/>
              </a:rPr>
              <a:t>Calculate the effort estimate by multiplying the initial estimate with all the multiplying factors i.e., multiply the values in step1 and step2.</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369" name="Google Shape;369;p33"/>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The initial estimate (also called nominal estimate) is determined by an equation of the form used in the static single variable models, using KDLOC as the measure of the size. To determine the initial effort E</a:t>
            </a:r>
            <a:r>
              <a:rPr b="0" baseline="-25000" i="0" lang="en-US" sz="2600" u="none">
                <a:solidFill>
                  <a:schemeClr val="dk1"/>
                </a:solidFill>
                <a:latin typeface="Gill Sans"/>
                <a:ea typeface="Gill Sans"/>
                <a:cs typeface="Gill Sans"/>
                <a:sym typeface="Gill Sans"/>
              </a:rPr>
              <a:t>i</a:t>
            </a:r>
            <a:r>
              <a:rPr b="0" i="0" lang="en-US" sz="2600" u="none">
                <a:solidFill>
                  <a:schemeClr val="dk1"/>
                </a:solidFill>
                <a:latin typeface="Gill Sans"/>
                <a:ea typeface="Gill Sans"/>
                <a:cs typeface="Gill Sans"/>
                <a:sym typeface="Gill Sans"/>
              </a:rPr>
              <a:t> in person-months the equation used is of the type is shown below</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                </a:t>
            </a:r>
            <a:r>
              <a:rPr b="1" i="0" lang="en-US" sz="2600" u="none">
                <a:solidFill>
                  <a:schemeClr val="dk1"/>
                </a:solidFill>
                <a:latin typeface="Gill Sans"/>
                <a:ea typeface="Gill Sans"/>
                <a:cs typeface="Gill Sans"/>
                <a:sym typeface="Gill Sans"/>
              </a:rPr>
              <a:t>E</a:t>
            </a:r>
            <a:r>
              <a:rPr b="1" baseline="-25000" i="0" lang="en-US" sz="2600" u="none">
                <a:solidFill>
                  <a:schemeClr val="dk1"/>
                </a:solidFill>
                <a:latin typeface="Gill Sans"/>
                <a:ea typeface="Gill Sans"/>
                <a:cs typeface="Gill Sans"/>
                <a:sym typeface="Gill Sans"/>
              </a:rPr>
              <a:t>i</a:t>
            </a:r>
            <a:r>
              <a:rPr b="1" i="0" lang="en-US" sz="2600" u="none">
                <a:solidFill>
                  <a:schemeClr val="dk1"/>
                </a:solidFill>
                <a:latin typeface="Gill Sans"/>
                <a:ea typeface="Gill Sans"/>
                <a:cs typeface="Gill Sans"/>
                <a:sym typeface="Gill Sans"/>
              </a:rPr>
              <a:t>=a*(KDLOC)</a:t>
            </a:r>
            <a:r>
              <a:rPr b="1" baseline="30000" i="0" lang="en-US" sz="2600" u="none">
                <a:solidFill>
                  <a:schemeClr val="dk1"/>
                </a:solidFill>
                <a:latin typeface="Gill Sans"/>
                <a:ea typeface="Gill Sans"/>
                <a:cs typeface="Gill Sans"/>
                <a:sym typeface="Gill Sans"/>
              </a:rPr>
              <a:t>b</a:t>
            </a:r>
            <a:endParaRPr b="0" baseline="3000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The value of the constant a and b are depends on the project type.</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375" name="Google Shape;375;p34"/>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In COCOMO, projects are categorized into three types: </a:t>
            </a:r>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1" i="0" sz="2600" u="none">
              <a:solidFill>
                <a:schemeClr val="dk1"/>
              </a:solidFill>
              <a:latin typeface="Gill Sans"/>
              <a:ea typeface="Gill Sans"/>
              <a:cs typeface="Gill Sans"/>
              <a:sym typeface="Gill Sans"/>
            </a:endParaRPr>
          </a:p>
          <a:p>
            <a:pPr indent="-457199" lvl="1" marL="731837" marR="0" rtl="0" algn="l">
              <a:lnSpc>
                <a:spcPct val="100000"/>
              </a:lnSpc>
              <a:spcBef>
                <a:spcPts val="500"/>
              </a:spcBef>
              <a:spcAft>
                <a:spcPts val="0"/>
              </a:spcAft>
              <a:buClr>
                <a:schemeClr val="accent2"/>
              </a:buClr>
              <a:buSzPts val="1748"/>
              <a:buFont typeface="Bookman Old Style"/>
              <a:buAutoNum type="arabicPeriod"/>
            </a:pPr>
            <a:r>
              <a:rPr b="0" i="0" lang="en-US" sz="2300" u="none" cap="none" strike="noStrike">
                <a:solidFill>
                  <a:schemeClr val="dk2"/>
                </a:solidFill>
                <a:latin typeface="Gill Sans"/>
                <a:ea typeface="Gill Sans"/>
                <a:cs typeface="Gill Sans"/>
                <a:sym typeface="Gill Sans"/>
              </a:rPr>
              <a:t>Organic</a:t>
            </a:r>
            <a:endParaRPr/>
          </a:p>
          <a:p>
            <a:pPr indent="-457199" lvl="1" marL="731837" marR="0" rtl="0" algn="l">
              <a:lnSpc>
                <a:spcPct val="100000"/>
              </a:lnSpc>
              <a:spcBef>
                <a:spcPts val="500"/>
              </a:spcBef>
              <a:spcAft>
                <a:spcPts val="0"/>
              </a:spcAft>
              <a:buClr>
                <a:schemeClr val="accent2"/>
              </a:buClr>
              <a:buSzPts val="1748"/>
              <a:buFont typeface="Bookman Old Style"/>
              <a:buAutoNum type="arabicPeriod"/>
            </a:pPr>
            <a:r>
              <a:rPr b="0" i="0" lang="en-US" sz="2300" u="none" cap="none" strike="noStrike">
                <a:solidFill>
                  <a:schemeClr val="dk2"/>
                </a:solidFill>
                <a:latin typeface="Gill Sans"/>
                <a:ea typeface="Gill Sans"/>
                <a:cs typeface="Gill Sans"/>
                <a:sym typeface="Gill Sans"/>
              </a:rPr>
              <a:t>Semidetached</a:t>
            </a:r>
            <a:endParaRPr/>
          </a:p>
          <a:p>
            <a:pPr indent="-457199" lvl="1" marL="731837" marR="0" rtl="0" algn="l">
              <a:lnSpc>
                <a:spcPct val="100000"/>
              </a:lnSpc>
              <a:spcBef>
                <a:spcPts val="500"/>
              </a:spcBef>
              <a:spcAft>
                <a:spcPts val="0"/>
              </a:spcAft>
              <a:buClr>
                <a:schemeClr val="accent2"/>
              </a:buClr>
              <a:buSzPts val="1748"/>
              <a:buFont typeface="Bookman Old Style"/>
              <a:buAutoNum type="arabicPeriod"/>
            </a:pPr>
            <a:r>
              <a:rPr b="0" i="0" lang="en-US" sz="2300" u="none" cap="none" strike="noStrike">
                <a:solidFill>
                  <a:schemeClr val="dk2"/>
                </a:solidFill>
                <a:latin typeface="Gill Sans"/>
                <a:ea typeface="Gill Sans"/>
                <a:cs typeface="Gill Sans"/>
                <a:sym typeface="Gill Sans"/>
              </a:rPr>
              <a:t>Embedded</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381" name="Google Shape;381;p35"/>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Organic:</a:t>
            </a:r>
            <a:r>
              <a:rPr b="0" i="0" lang="en-US" sz="2600" u="none">
                <a:solidFill>
                  <a:schemeClr val="dk1"/>
                </a:solidFill>
                <a:latin typeface="Gill Sans"/>
                <a:ea typeface="Gill Sans"/>
                <a:cs typeface="Gill Sans"/>
                <a:sym typeface="Gill Sans"/>
              </a:rPr>
              <a:t> A development project can be treated of the organic type, if the project deals with developing a well-understood application program, the size of the development team is reasonably small, and the team members are experienced in developing similar methods of projects. </a:t>
            </a:r>
            <a:r>
              <a:rPr b="1" i="0" lang="en-US" sz="2600" u="none">
                <a:solidFill>
                  <a:schemeClr val="dk1"/>
                </a:solidFill>
                <a:latin typeface="Gill Sans"/>
                <a:ea typeface="Gill Sans"/>
                <a:cs typeface="Gill Sans"/>
                <a:sym typeface="Gill Sans"/>
              </a:rPr>
              <a:t>Examples of this type of projects are simple business systems, simple inventory management systems, and data processing systems.</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387" name="Google Shape;387;p36"/>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Semidetached:</a:t>
            </a:r>
            <a:r>
              <a:rPr b="0" i="0" lang="en-US" sz="2600" u="none">
                <a:solidFill>
                  <a:schemeClr val="dk1"/>
                </a:solidFill>
                <a:latin typeface="Gill Sans"/>
                <a:ea typeface="Gill Sans"/>
                <a:cs typeface="Gill Sans"/>
                <a:sym typeface="Gill Sans"/>
              </a:rPr>
              <a:t> A development project can be treated with semidetached type if the development consists of a </a:t>
            </a:r>
            <a:r>
              <a:rPr b="1" i="0" lang="en-US" sz="2600" u="none">
                <a:solidFill>
                  <a:schemeClr val="dk1"/>
                </a:solidFill>
                <a:latin typeface="Gill Sans"/>
                <a:ea typeface="Gill Sans"/>
                <a:cs typeface="Gill Sans"/>
                <a:sym typeface="Gill Sans"/>
              </a:rPr>
              <a:t>mixture of experienced </a:t>
            </a:r>
            <a:r>
              <a:rPr b="0" i="0" lang="en-US" sz="2600" u="none">
                <a:solidFill>
                  <a:schemeClr val="dk1"/>
                </a:solidFill>
                <a:latin typeface="Gill Sans"/>
                <a:ea typeface="Gill Sans"/>
                <a:cs typeface="Gill Sans"/>
                <a:sym typeface="Gill Sans"/>
              </a:rPr>
              <a:t>and </a:t>
            </a:r>
            <a:r>
              <a:rPr b="1" i="0" lang="en-US" sz="2600" u="none">
                <a:solidFill>
                  <a:schemeClr val="dk1"/>
                </a:solidFill>
                <a:latin typeface="Gill Sans"/>
                <a:ea typeface="Gill Sans"/>
                <a:cs typeface="Gill Sans"/>
                <a:sym typeface="Gill Sans"/>
              </a:rPr>
              <a:t>inexperienced</a:t>
            </a:r>
            <a:r>
              <a:rPr b="0" i="0" lang="en-US" sz="2600" u="none">
                <a:solidFill>
                  <a:schemeClr val="dk1"/>
                </a:solidFill>
                <a:latin typeface="Gill Sans"/>
                <a:ea typeface="Gill Sans"/>
                <a:cs typeface="Gill Sans"/>
                <a:sym typeface="Gill Sans"/>
              </a:rPr>
              <a:t> staff. Team members may have finite experience in related systems but may be unfamiliar with some aspects of the order being developed. </a:t>
            </a:r>
            <a:r>
              <a:rPr b="1" i="0" lang="en-US" sz="2600" u="none">
                <a:solidFill>
                  <a:schemeClr val="dk1"/>
                </a:solidFill>
                <a:latin typeface="Gill Sans"/>
                <a:ea typeface="Gill Sans"/>
                <a:cs typeface="Gill Sans"/>
                <a:sym typeface="Gill Sans"/>
              </a:rPr>
              <a:t>Example of Semidetached system includes developing a new operating system (OS), a Database Management System (DBMS), and complex inventory management system.</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393" name="Google Shape;393;p37"/>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Embedded:</a:t>
            </a:r>
            <a:r>
              <a:rPr b="0" i="0" lang="en-US" sz="2600" u="none">
                <a:solidFill>
                  <a:schemeClr val="dk1"/>
                </a:solidFill>
                <a:latin typeface="Gill Sans"/>
                <a:ea typeface="Gill Sans"/>
                <a:cs typeface="Gill Sans"/>
                <a:sym typeface="Gill Sans"/>
              </a:rPr>
              <a:t> A development project is treated to be of an embedded type, if the software being developed is strongly coupled to complex hardware, or if the stringent regulations on the operational method exist. </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For Example:</a:t>
            </a:r>
            <a:r>
              <a:rPr b="0" i="0" lang="en-US" sz="2600" u="none">
                <a:solidFill>
                  <a:schemeClr val="dk1"/>
                </a:solidFill>
                <a:latin typeface="Gill Sans"/>
                <a:ea typeface="Gill Sans"/>
                <a:cs typeface="Gill Sans"/>
                <a:sym typeface="Gill Sans"/>
              </a:rPr>
              <a:t> ATM, Air Traffic control.</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8"/>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399" name="Google Shape;399;p38"/>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Embedded:</a:t>
            </a:r>
            <a:r>
              <a:rPr b="0" i="0" lang="en-US" sz="2600" u="none">
                <a:solidFill>
                  <a:schemeClr val="dk1"/>
                </a:solidFill>
                <a:latin typeface="Gill Sans"/>
                <a:ea typeface="Gill Sans"/>
                <a:cs typeface="Gill Sans"/>
                <a:sym typeface="Gill Sans"/>
              </a:rPr>
              <a:t> A development project is treated to be of an embedded type, if the software being developed is strongly coupled to complex hardware, or if the stringent regulations on the operational method exist. </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For Example:</a:t>
            </a:r>
            <a:r>
              <a:rPr b="0" i="0" lang="en-US" sz="2600" u="none">
                <a:solidFill>
                  <a:schemeClr val="dk1"/>
                </a:solidFill>
                <a:latin typeface="Gill Sans"/>
                <a:ea typeface="Gill Sans"/>
                <a:cs typeface="Gill Sans"/>
                <a:sym typeface="Gill Sans"/>
              </a:rPr>
              <a:t> ATM, Air Traffic control.</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9"/>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405" name="Google Shape;405;p39"/>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For three product categories, Bohem provides a different set of expression to predict </a:t>
            </a:r>
            <a:r>
              <a:rPr b="1" i="0" lang="en-US" sz="2600" u="none">
                <a:solidFill>
                  <a:srgbClr val="C00000"/>
                </a:solidFill>
                <a:latin typeface="Gill Sans"/>
                <a:ea typeface="Gill Sans"/>
                <a:cs typeface="Gill Sans"/>
                <a:sym typeface="Gill Sans"/>
              </a:rPr>
              <a:t>effort</a:t>
            </a:r>
            <a:r>
              <a:rPr b="0" i="0" lang="en-US" sz="2600" u="none">
                <a:solidFill>
                  <a:schemeClr val="dk1"/>
                </a:solidFill>
                <a:latin typeface="Gill Sans"/>
                <a:ea typeface="Gill Sans"/>
                <a:cs typeface="Gill Sans"/>
                <a:sym typeface="Gill Sans"/>
              </a:rPr>
              <a:t> (in a unit of </a:t>
            </a:r>
            <a:r>
              <a:rPr b="1" i="0" lang="en-US" sz="2600" u="none">
                <a:solidFill>
                  <a:schemeClr val="dk1"/>
                </a:solidFill>
                <a:latin typeface="Gill Sans"/>
                <a:ea typeface="Gill Sans"/>
                <a:cs typeface="Gill Sans"/>
                <a:sym typeface="Gill Sans"/>
              </a:rPr>
              <a:t>person month (PM)</a:t>
            </a:r>
            <a:r>
              <a:rPr b="0" i="0" lang="en-US" sz="2600" u="none">
                <a:solidFill>
                  <a:schemeClr val="dk1"/>
                </a:solidFill>
                <a:latin typeface="Gill Sans"/>
                <a:ea typeface="Gill Sans"/>
                <a:cs typeface="Gill Sans"/>
                <a:sym typeface="Gill Sans"/>
              </a:rPr>
              <a:t>)and </a:t>
            </a:r>
            <a:r>
              <a:rPr b="1" i="0" lang="en-US" sz="2600" u="none">
                <a:solidFill>
                  <a:srgbClr val="C00000"/>
                </a:solidFill>
                <a:latin typeface="Gill Sans"/>
                <a:ea typeface="Gill Sans"/>
                <a:cs typeface="Gill Sans"/>
                <a:sym typeface="Gill Sans"/>
              </a:rPr>
              <a:t>development time</a:t>
            </a:r>
            <a:r>
              <a:rPr b="0" i="0" lang="en-US" sz="2600" u="none">
                <a:solidFill>
                  <a:schemeClr val="dk1"/>
                </a:solidFill>
                <a:latin typeface="Gill Sans"/>
                <a:ea typeface="Gill Sans"/>
                <a:cs typeface="Gill Sans"/>
                <a:sym typeface="Gill Sans"/>
              </a:rPr>
              <a:t> from the size of estimation in KLOC(Kilo Line of code) efforts estimation takes into account the productivity loss due to holidays, weekly off, coffee breaks, etc.</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According to Boehm, software cost estimation should be done through three stages:</a:t>
            </a:r>
            <a:endParaRPr/>
          </a:p>
          <a:p>
            <a:pPr indent="-457199" lvl="1" marL="731837" marR="0" rtl="0" algn="l">
              <a:lnSpc>
                <a:spcPct val="100000"/>
              </a:lnSpc>
              <a:spcBef>
                <a:spcPts val="500"/>
              </a:spcBef>
              <a:spcAft>
                <a:spcPts val="0"/>
              </a:spcAft>
              <a:buClr>
                <a:schemeClr val="accent2"/>
              </a:buClr>
              <a:buSzPts val="1748"/>
              <a:buFont typeface="Bookman Old Style"/>
              <a:buAutoNum type="arabicPeriod"/>
            </a:pPr>
            <a:r>
              <a:rPr b="0" i="0" lang="en-US" sz="2300" u="none" cap="none" strike="noStrike">
                <a:solidFill>
                  <a:schemeClr val="dk2"/>
                </a:solidFill>
                <a:latin typeface="Gill Sans"/>
                <a:ea typeface="Gill Sans"/>
                <a:cs typeface="Gill Sans"/>
                <a:sym typeface="Gill Sans"/>
              </a:rPr>
              <a:t>Basic Model</a:t>
            </a:r>
            <a:endParaRPr/>
          </a:p>
          <a:p>
            <a:pPr indent="-457199" lvl="1" marL="731837" marR="0" rtl="0" algn="l">
              <a:lnSpc>
                <a:spcPct val="100000"/>
              </a:lnSpc>
              <a:spcBef>
                <a:spcPts val="500"/>
              </a:spcBef>
              <a:spcAft>
                <a:spcPts val="0"/>
              </a:spcAft>
              <a:buClr>
                <a:schemeClr val="accent2"/>
              </a:buClr>
              <a:buSzPts val="1748"/>
              <a:buFont typeface="Bookman Old Style"/>
              <a:buAutoNum type="arabicPeriod"/>
            </a:pPr>
            <a:r>
              <a:rPr b="0" i="0" lang="en-US" sz="2300" u="none" cap="none" strike="noStrike">
                <a:solidFill>
                  <a:schemeClr val="dk2"/>
                </a:solidFill>
                <a:latin typeface="Gill Sans"/>
                <a:ea typeface="Gill Sans"/>
                <a:cs typeface="Gill Sans"/>
                <a:sym typeface="Gill Sans"/>
              </a:rPr>
              <a:t>Intermediate Model</a:t>
            </a:r>
            <a:endParaRPr/>
          </a:p>
          <a:p>
            <a:pPr indent="-457199" lvl="1" marL="731837" marR="0" rtl="0" algn="l">
              <a:lnSpc>
                <a:spcPct val="100000"/>
              </a:lnSpc>
              <a:spcBef>
                <a:spcPts val="500"/>
              </a:spcBef>
              <a:spcAft>
                <a:spcPts val="0"/>
              </a:spcAft>
              <a:buClr>
                <a:schemeClr val="accent2"/>
              </a:buClr>
              <a:buSzPts val="1748"/>
              <a:buFont typeface="Bookman Old Style"/>
              <a:buAutoNum type="arabicPeriod"/>
            </a:pPr>
            <a:r>
              <a:rPr b="0" i="0" lang="en-US" sz="2300" u="none" cap="none" strike="noStrike">
                <a:solidFill>
                  <a:schemeClr val="dk2"/>
                </a:solidFill>
                <a:latin typeface="Gill Sans"/>
                <a:ea typeface="Gill Sans"/>
                <a:cs typeface="Gill Sans"/>
                <a:sym typeface="Gill Sans"/>
              </a:rPr>
              <a:t>Detailed Model</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0"/>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411" name="Google Shape;411;p40"/>
          <p:cNvSpPr txBox="1"/>
          <p:nvPr>
            <p:ph idx="1" type="body"/>
          </p:nvPr>
        </p:nvSpPr>
        <p:spPr>
          <a:xfrm>
            <a:off x="457200" y="1219200"/>
            <a:ext cx="8534400" cy="50292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520"/>
              <a:buFont typeface="Noto Sans Symbols"/>
              <a:buChar char="🞂"/>
            </a:pPr>
            <a:r>
              <a:rPr b="1" i="0" lang="en-US" sz="2000" u="none">
                <a:solidFill>
                  <a:schemeClr val="dk1"/>
                </a:solidFill>
                <a:latin typeface="Gill Sans"/>
                <a:ea typeface="Gill Sans"/>
                <a:cs typeface="Gill Sans"/>
                <a:sym typeface="Gill Sans"/>
              </a:rPr>
              <a:t>Basic COCOMO Model:</a:t>
            </a:r>
            <a:r>
              <a:rPr b="0" i="0" lang="en-US" sz="2000" u="none">
                <a:solidFill>
                  <a:schemeClr val="dk1"/>
                </a:solidFill>
                <a:latin typeface="Gill Sans"/>
                <a:ea typeface="Gill Sans"/>
                <a:cs typeface="Gill Sans"/>
                <a:sym typeface="Gill Sans"/>
              </a:rPr>
              <a:t> The basic COCOMO model provide an accurate size of the project parameters. The following expressions give the basic COCOMO estimation model:</a:t>
            </a:r>
            <a:endParaRPr/>
          </a:p>
          <a:p>
            <a:pPr indent="-273050" lvl="0" marL="273050" marR="0" rtl="0" algn="l">
              <a:lnSpc>
                <a:spcPct val="100000"/>
              </a:lnSpc>
              <a:spcBef>
                <a:spcPts val="600"/>
              </a:spcBef>
              <a:spcAft>
                <a:spcPts val="0"/>
              </a:spcAft>
              <a:buClr>
                <a:schemeClr val="accent1"/>
              </a:buClr>
              <a:buSzPts val="1520"/>
              <a:buFont typeface="Noto Sans Symbols"/>
              <a:buChar char="🞂"/>
            </a:pPr>
            <a:r>
              <a:rPr b="0" i="0" lang="en-US" sz="2000" u="none">
                <a:solidFill>
                  <a:schemeClr val="dk1"/>
                </a:solidFill>
                <a:latin typeface="Gill Sans"/>
                <a:ea typeface="Gill Sans"/>
                <a:cs typeface="Gill Sans"/>
                <a:sym typeface="Gill Sans"/>
              </a:rPr>
              <a:t>                </a:t>
            </a:r>
            <a:r>
              <a:rPr b="1" i="0" lang="en-US" sz="2000" u="none">
                <a:solidFill>
                  <a:schemeClr val="dk1"/>
                </a:solidFill>
                <a:latin typeface="Gill Sans"/>
                <a:ea typeface="Gill Sans"/>
                <a:cs typeface="Gill Sans"/>
                <a:sym typeface="Gill Sans"/>
              </a:rPr>
              <a:t>Effort=a</a:t>
            </a:r>
            <a:r>
              <a:rPr b="1" baseline="-25000" i="0" lang="en-US" sz="2000" u="none">
                <a:solidFill>
                  <a:schemeClr val="dk1"/>
                </a:solidFill>
                <a:latin typeface="Gill Sans"/>
                <a:ea typeface="Gill Sans"/>
                <a:cs typeface="Gill Sans"/>
                <a:sym typeface="Gill Sans"/>
              </a:rPr>
              <a:t>1</a:t>
            </a:r>
            <a:r>
              <a:rPr b="1" i="0" lang="en-US" sz="2000" u="none">
                <a:solidFill>
                  <a:schemeClr val="dk1"/>
                </a:solidFill>
                <a:latin typeface="Gill Sans"/>
                <a:ea typeface="Gill Sans"/>
                <a:cs typeface="Gill Sans"/>
                <a:sym typeface="Gill Sans"/>
              </a:rPr>
              <a:t>(KLOC)</a:t>
            </a:r>
            <a:r>
              <a:rPr b="1" baseline="30000" i="0" lang="en-US" sz="2000" u="none">
                <a:solidFill>
                  <a:schemeClr val="dk1"/>
                </a:solidFill>
                <a:latin typeface="Gill Sans"/>
                <a:ea typeface="Gill Sans"/>
                <a:cs typeface="Gill Sans"/>
                <a:sym typeface="Gill Sans"/>
              </a:rPr>
              <a:t>a2</a:t>
            </a:r>
            <a:r>
              <a:rPr b="1" i="0" lang="en-US" sz="2000" u="none">
                <a:solidFill>
                  <a:schemeClr val="dk1"/>
                </a:solidFill>
                <a:latin typeface="Gill Sans"/>
                <a:ea typeface="Gill Sans"/>
                <a:cs typeface="Gill Sans"/>
                <a:sym typeface="Gill Sans"/>
              </a:rPr>
              <a:t> PM</a:t>
            </a:r>
            <a:br>
              <a:rPr b="0" i="0" lang="en-US" sz="2000" u="none">
                <a:solidFill>
                  <a:schemeClr val="dk1"/>
                </a:solidFill>
                <a:latin typeface="Gill Sans"/>
                <a:ea typeface="Gill Sans"/>
                <a:cs typeface="Gill Sans"/>
                <a:sym typeface="Gill Sans"/>
              </a:rPr>
            </a:br>
            <a:r>
              <a:rPr b="0" i="0" lang="en-US" sz="2000" u="none">
                <a:solidFill>
                  <a:schemeClr val="dk1"/>
                </a:solidFill>
                <a:latin typeface="Gill Sans"/>
                <a:ea typeface="Gill Sans"/>
                <a:cs typeface="Gill Sans"/>
                <a:sym typeface="Gill Sans"/>
              </a:rPr>
              <a:t>                </a:t>
            </a:r>
            <a:r>
              <a:rPr b="1" i="0" lang="en-US" sz="2000" u="none">
                <a:solidFill>
                  <a:schemeClr val="dk1"/>
                </a:solidFill>
                <a:latin typeface="Gill Sans"/>
                <a:ea typeface="Gill Sans"/>
                <a:cs typeface="Gill Sans"/>
                <a:sym typeface="Gill Sans"/>
              </a:rPr>
              <a:t>Tdev=b</a:t>
            </a:r>
            <a:r>
              <a:rPr b="1" baseline="-25000" i="0" lang="en-US" sz="2000" u="none">
                <a:solidFill>
                  <a:schemeClr val="dk1"/>
                </a:solidFill>
                <a:latin typeface="Gill Sans"/>
                <a:ea typeface="Gill Sans"/>
                <a:cs typeface="Gill Sans"/>
                <a:sym typeface="Gill Sans"/>
              </a:rPr>
              <a:t>1</a:t>
            </a:r>
            <a:r>
              <a:rPr b="1" i="0" lang="en-US" sz="2000" u="none">
                <a:solidFill>
                  <a:schemeClr val="dk1"/>
                </a:solidFill>
                <a:latin typeface="Gill Sans"/>
                <a:ea typeface="Gill Sans"/>
                <a:cs typeface="Gill Sans"/>
                <a:sym typeface="Gill Sans"/>
              </a:rPr>
              <a:t>(efforts)</a:t>
            </a:r>
            <a:r>
              <a:rPr b="1" baseline="30000" i="0" lang="en-US" sz="2000" u="none">
                <a:solidFill>
                  <a:schemeClr val="dk1"/>
                </a:solidFill>
                <a:latin typeface="Gill Sans"/>
                <a:ea typeface="Gill Sans"/>
                <a:cs typeface="Gill Sans"/>
                <a:sym typeface="Gill Sans"/>
              </a:rPr>
              <a:t>b2</a:t>
            </a:r>
            <a:r>
              <a:rPr b="1" i="0" lang="en-US" sz="2000" u="none">
                <a:solidFill>
                  <a:schemeClr val="dk1"/>
                </a:solidFill>
                <a:latin typeface="Gill Sans"/>
                <a:ea typeface="Gill Sans"/>
                <a:cs typeface="Gill Sans"/>
                <a:sym typeface="Gill Sans"/>
              </a:rPr>
              <a:t> Months</a:t>
            </a:r>
            <a:endParaRPr/>
          </a:p>
          <a:p>
            <a:pPr indent="-273050" lvl="0" marL="273050" marR="0" rtl="0" algn="l">
              <a:lnSpc>
                <a:spcPct val="100000"/>
              </a:lnSpc>
              <a:spcBef>
                <a:spcPts val="600"/>
              </a:spcBef>
              <a:spcAft>
                <a:spcPts val="0"/>
              </a:spcAft>
              <a:buClr>
                <a:schemeClr val="accent1"/>
              </a:buClr>
              <a:buSzPts val="1520"/>
              <a:buFont typeface="Noto Sans Symbols"/>
              <a:buChar char="🞂"/>
            </a:pPr>
            <a:r>
              <a:rPr b="0" i="0" lang="en-US" sz="2000" u="none">
                <a:solidFill>
                  <a:schemeClr val="dk1"/>
                </a:solidFill>
                <a:latin typeface="Gill Sans"/>
                <a:ea typeface="Gill Sans"/>
                <a:cs typeface="Gill Sans"/>
                <a:sym typeface="Gill Sans"/>
              </a:rPr>
              <a:t>Where</a:t>
            </a:r>
            <a:endParaRPr/>
          </a:p>
          <a:p>
            <a:pPr indent="-273050" lvl="0" marL="273050" marR="0" rtl="0" algn="l">
              <a:lnSpc>
                <a:spcPct val="100000"/>
              </a:lnSpc>
              <a:spcBef>
                <a:spcPts val="600"/>
              </a:spcBef>
              <a:spcAft>
                <a:spcPts val="0"/>
              </a:spcAft>
              <a:buClr>
                <a:schemeClr val="accent1"/>
              </a:buClr>
              <a:buSzPts val="1520"/>
              <a:buFont typeface="Noto Sans Symbols"/>
              <a:buChar char="🞂"/>
            </a:pPr>
            <a:r>
              <a:rPr b="1" i="0" lang="en-US" sz="2000" u="none">
                <a:solidFill>
                  <a:schemeClr val="dk1"/>
                </a:solidFill>
                <a:latin typeface="Gill Sans"/>
                <a:ea typeface="Gill Sans"/>
                <a:cs typeface="Gill Sans"/>
                <a:sym typeface="Gill Sans"/>
              </a:rPr>
              <a:t>KLOC</a:t>
            </a:r>
            <a:r>
              <a:rPr b="0" i="0" lang="en-US" sz="2000" u="none">
                <a:solidFill>
                  <a:schemeClr val="dk1"/>
                </a:solidFill>
                <a:latin typeface="Gill Sans"/>
                <a:ea typeface="Gill Sans"/>
                <a:cs typeface="Gill Sans"/>
                <a:sym typeface="Gill Sans"/>
              </a:rPr>
              <a:t> is the estimated size of the software product indicate in Kilo (Thounds) Lines of Code,</a:t>
            </a:r>
            <a:endParaRPr/>
          </a:p>
          <a:p>
            <a:pPr indent="-273050" lvl="0" marL="273050" marR="0" rtl="0" algn="l">
              <a:lnSpc>
                <a:spcPct val="100000"/>
              </a:lnSpc>
              <a:spcBef>
                <a:spcPts val="600"/>
              </a:spcBef>
              <a:spcAft>
                <a:spcPts val="0"/>
              </a:spcAft>
              <a:buClr>
                <a:schemeClr val="accent1"/>
              </a:buClr>
              <a:buSzPts val="1520"/>
              <a:buFont typeface="Noto Sans Symbols"/>
              <a:buChar char="🞂"/>
            </a:pPr>
            <a:r>
              <a:rPr b="0" i="0" lang="en-US" sz="2000" u="none">
                <a:solidFill>
                  <a:schemeClr val="dk1"/>
                </a:solidFill>
                <a:latin typeface="Gill Sans"/>
                <a:ea typeface="Gill Sans"/>
                <a:cs typeface="Gill Sans"/>
                <a:sym typeface="Gill Sans"/>
              </a:rPr>
              <a:t>a</a:t>
            </a:r>
            <a:r>
              <a:rPr b="0" baseline="-25000" i="0" lang="en-US" sz="2000" u="none">
                <a:solidFill>
                  <a:schemeClr val="dk1"/>
                </a:solidFill>
                <a:latin typeface="Gill Sans"/>
                <a:ea typeface="Gill Sans"/>
                <a:cs typeface="Gill Sans"/>
                <a:sym typeface="Gill Sans"/>
              </a:rPr>
              <a:t>1</a:t>
            </a:r>
            <a:r>
              <a:rPr b="0" i="0" lang="en-US" sz="2000" u="none">
                <a:solidFill>
                  <a:schemeClr val="dk1"/>
                </a:solidFill>
                <a:latin typeface="Gill Sans"/>
                <a:ea typeface="Gill Sans"/>
                <a:cs typeface="Gill Sans"/>
                <a:sym typeface="Gill Sans"/>
              </a:rPr>
              <a:t>,a</a:t>
            </a:r>
            <a:r>
              <a:rPr b="0" baseline="-25000" i="0" lang="en-US" sz="2000" u="none">
                <a:solidFill>
                  <a:schemeClr val="dk1"/>
                </a:solidFill>
                <a:latin typeface="Gill Sans"/>
                <a:ea typeface="Gill Sans"/>
                <a:cs typeface="Gill Sans"/>
                <a:sym typeface="Gill Sans"/>
              </a:rPr>
              <a:t>2</a:t>
            </a:r>
            <a:r>
              <a:rPr b="0" i="0" lang="en-US" sz="2000" u="none">
                <a:solidFill>
                  <a:schemeClr val="dk1"/>
                </a:solidFill>
                <a:latin typeface="Gill Sans"/>
                <a:ea typeface="Gill Sans"/>
                <a:cs typeface="Gill Sans"/>
                <a:sym typeface="Gill Sans"/>
              </a:rPr>
              <a:t>,b</a:t>
            </a:r>
            <a:r>
              <a:rPr b="0" baseline="-25000" i="0" lang="en-US" sz="2000" u="none">
                <a:solidFill>
                  <a:schemeClr val="dk1"/>
                </a:solidFill>
                <a:latin typeface="Gill Sans"/>
                <a:ea typeface="Gill Sans"/>
                <a:cs typeface="Gill Sans"/>
                <a:sym typeface="Gill Sans"/>
              </a:rPr>
              <a:t>1</a:t>
            </a:r>
            <a:r>
              <a:rPr b="0" i="0" lang="en-US" sz="2000" u="none">
                <a:solidFill>
                  <a:schemeClr val="dk1"/>
                </a:solidFill>
                <a:latin typeface="Gill Sans"/>
                <a:ea typeface="Gill Sans"/>
                <a:cs typeface="Gill Sans"/>
                <a:sym typeface="Gill Sans"/>
              </a:rPr>
              <a:t>,b</a:t>
            </a:r>
            <a:r>
              <a:rPr b="0" baseline="-25000" i="0" lang="en-US" sz="2000" u="none">
                <a:solidFill>
                  <a:schemeClr val="dk1"/>
                </a:solidFill>
                <a:latin typeface="Gill Sans"/>
                <a:ea typeface="Gill Sans"/>
                <a:cs typeface="Gill Sans"/>
                <a:sym typeface="Gill Sans"/>
              </a:rPr>
              <a:t>2</a:t>
            </a:r>
            <a:r>
              <a:rPr b="0" i="0" lang="en-US" sz="2000" u="none">
                <a:solidFill>
                  <a:schemeClr val="dk1"/>
                </a:solidFill>
                <a:latin typeface="Gill Sans"/>
                <a:ea typeface="Gill Sans"/>
                <a:cs typeface="Gill Sans"/>
                <a:sym typeface="Gill Sans"/>
              </a:rPr>
              <a:t> are constants for each group of software products,</a:t>
            </a:r>
            <a:endParaRPr/>
          </a:p>
          <a:p>
            <a:pPr indent="-273050" lvl="0" marL="273050" marR="0" rtl="0" algn="l">
              <a:lnSpc>
                <a:spcPct val="100000"/>
              </a:lnSpc>
              <a:spcBef>
                <a:spcPts val="600"/>
              </a:spcBef>
              <a:spcAft>
                <a:spcPts val="0"/>
              </a:spcAft>
              <a:buClr>
                <a:schemeClr val="accent1"/>
              </a:buClr>
              <a:buSzPts val="1520"/>
              <a:buFont typeface="Noto Sans Symbols"/>
              <a:buChar char="🞂"/>
            </a:pPr>
            <a:r>
              <a:rPr b="1" i="0" lang="en-US" sz="2000" u="none">
                <a:solidFill>
                  <a:schemeClr val="dk1"/>
                </a:solidFill>
                <a:latin typeface="Gill Sans"/>
                <a:ea typeface="Gill Sans"/>
                <a:cs typeface="Gill Sans"/>
                <a:sym typeface="Gill Sans"/>
              </a:rPr>
              <a:t>Tdev</a:t>
            </a:r>
            <a:r>
              <a:rPr b="0" i="0" lang="en-US" sz="2000" u="none">
                <a:solidFill>
                  <a:schemeClr val="dk1"/>
                </a:solidFill>
                <a:latin typeface="Gill Sans"/>
                <a:ea typeface="Gill Sans"/>
                <a:cs typeface="Gill Sans"/>
                <a:sym typeface="Gill Sans"/>
              </a:rPr>
              <a:t> is the estimated time to develop the software, expressed in months</a:t>
            </a:r>
            <a:endParaRPr/>
          </a:p>
          <a:p>
            <a:pPr indent="-273050" lvl="0" marL="273050" marR="0" rtl="0" algn="l">
              <a:lnSpc>
                <a:spcPct val="100000"/>
              </a:lnSpc>
              <a:spcBef>
                <a:spcPts val="600"/>
              </a:spcBef>
              <a:spcAft>
                <a:spcPts val="0"/>
              </a:spcAft>
              <a:buClr>
                <a:schemeClr val="accent1"/>
              </a:buClr>
              <a:buSzPts val="1520"/>
              <a:buFont typeface="Noto Sans Symbols"/>
              <a:buChar char="🞂"/>
            </a:pPr>
            <a:r>
              <a:rPr b="1" i="0" lang="en-US" sz="2000" u="none">
                <a:solidFill>
                  <a:schemeClr val="dk1"/>
                </a:solidFill>
                <a:latin typeface="Gill Sans"/>
                <a:ea typeface="Gill Sans"/>
                <a:cs typeface="Gill Sans"/>
                <a:sym typeface="Gill Sans"/>
              </a:rPr>
              <a:t>Effort</a:t>
            </a:r>
            <a:r>
              <a:rPr b="0" i="0" lang="en-US" sz="2000" u="none">
                <a:solidFill>
                  <a:schemeClr val="dk1"/>
                </a:solidFill>
                <a:latin typeface="Gill Sans"/>
                <a:ea typeface="Gill Sans"/>
                <a:cs typeface="Gill Sans"/>
                <a:sym typeface="Gill Sans"/>
              </a:rPr>
              <a:t> is the total effort required to develop the software product, expressed in </a:t>
            </a:r>
            <a:r>
              <a:rPr b="1" i="0" lang="en-US" sz="2000" u="none">
                <a:solidFill>
                  <a:schemeClr val="dk1"/>
                </a:solidFill>
                <a:latin typeface="Gill Sans"/>
                <a:ea typeface="Gill Sans"/>
                <a:cs typeface="Gill Sans"/>
                <a:sym typeface="Gill Sans"/>
              </a:rPr>
              <a:t>person months (PMs)</a:t>
            </a:r>
            <a:r>
              <a:rPr b="0" i="0" lang="en-US" sz="2000" u="none">
                <a:solidFill>
                  <a:schemeClr val="dk1"/>
                </a:solidFill>
                <a:latin typeface="Gill Sans"/>
                <a:ea typeface="Gill Sans"/>
                <a:cs typeface="Gill Sans"/>
                <a:sym typeface="Gill Sans"/>
              </a:rPr>
              <a:t>.</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1"/>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417" name="Google Shape;417;p41"/>
          <p:cNvSpPr txBox="1"/>
          <p:nvPr>
            <p:ph idx="1" type="body"/>
          </p:nvPr>
        </p:nvSpPr>
        <p:spPr>
          <a:xfrm>
            <a:off x="457200" y="1219200"/>
            <a:ext cx="8534400" cy="50292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520"/>
              <a:buFont typeface="Noto Sans Symbols"/>
              <a:buChar char="🞂"/>
            </a:pPr>
            <a:r>
              <a:rPr b="1" i="0" lang="en-US" sz="2000" u="none">
                <a:solidFill>
                  <a:schemeClr val="dk1"/>
                </a:solidFill>
                <a:latin typeface="Gill Sans"/>
                <a:ea typeface="Gill Sans"/>
                <a:cs typeface="Gill Sans"/>
                <a:sym typeface="Gill Sans"/>
              </a:rPr>
              <a:t>Estimation of </a:t>
            </a:r>
            <a:r>
              <a:rPr b="1" i="0" lang="en-US" sz="2000" u="none">
                <a:solidFill>
                  <a:srgbClr val="C00000"/>
                </a:solidFill>
                <a:latin typeface="Gill Sans"/>
                <a:ea typeface="Gill Sans"/>
                <a:cs typeface="Gill Sans"/>
                <a:sym typeface="Gill Sans"/>
              </a:rPr>
              <a:t>development</a:t>
            </a:r>
            <a:r>
              <a:rPr b="1" i="0" lang="en-US" sz="2000" u="none">
                <a:solidFill>
                  <a:schemeClr val="dk1"/>
                </a:solidFill>
                <a:latin typeface="Gill Sans"/>
                <a:ea typeface="Gill Sans"/>
                <a:cs typeface="Gill Sans"/>
                <a:sym typeface="Gill Sans"/>
              </a:rPr>
              <a:t> </a:t>
            </a:r>
            <a:r>
              <a:rPr b="1" i="0" lang="en-US" sz="2000" u="none">
                <a:solidFill>
                  <a:srgbClr val="C00000"/>
                </a:solidFill>
                <a:latin typeface="Gill Sans"/>
                <a:ea typeface="Gill Sans"/>
                <a:cs typeface="Gill Sans"/>
                <a:sym typeface="Gill Sans"/>
              </a:rPr>
              <a:t>effort</a:t>
            </a:r>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For the three classes of software products, the formulas for estimating the effort based on the code size are shown below:</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Organic:</a:t>
            </a:r>
            <a:r>
              <a:rPr b="0" i="0" lang="en-US" sz="2600" u="none">
                <a:solidFill>
                  <a:schemeClr val="dk1"/>
                </a:solidFill>
                <a:latin typeface="Gill Sans"/>
                <a:ea typeface="Gill Sans"/>
                <a:cs typeface="Gill Sans"/>
                <a:sym typeface="Gill Sans"/>
              </a:rPr>
              <a:t> Effort = 2.4(KLOC)</a:t>
            </a:r>
            <a:r>
              <a:rPr b="0" baseline="30000" i="0" lang="en-US" sz="2600" u="none">
                <a:solidFill>
                  <a:schemeClr val="dk1"/>
                </a:solidFill>
                <a:latin typeface="Gill Sans"/>
                <a:ea typeface="Gill Sans"/>
                <a:cs typeface="Gill Sans"/>
                <a:sym typeface="Gill Sans"/>
              </a:rPr>
              <a:t>1.05</a:t>
            </a:r>
            <a:r>
              <a:rPr b="0" i="0" lang="en-US" sz="2600" u="none">
                <a:solidFill>
                  <a:schemeClr val="dk1"/>
                </a:solidFill>
                <a:latin typeface="Gill Sans"/>
                <a:ea typeface="Gill Sans"/>
                <a:cs typeface="Gill Sans"/>
                <a:sym typeface="Gill Sans"/>
              </a:rPr>
              <a:t> PM</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Semi-detached:</a:t>
            </a:r>
            <a:r>
              <a:rPr b="0" i="0" lang="en-US" sz="2600" u="none">
                <a:solidFill>
                  <a:schemeClr val="dk1"/>
                </a:solidFill>
                <a:latin typeface="Gill Sans"/>
                <a:ea typeface="Gill Sans"/>
                <a:cs typeface="Gill Sans"/>
                <a:sym typeface="Gill Sans"/>
              </a:rPr>
              <a:t> Effort = 3.0(KLOC)</a:t>
            </a:r>
            <a:r>
              <a:rPr b="0" baseline="30000" i="0" lang="en-US" sz="2600" u="none">
                <a:solidFill>
                  <a:schemeClr val="dk1"/>
                </a:solidFill>
                <a:latin typeface="Gill Sans"/>
                <a:ea typeface="Gill Sans"/>
                <a:cs typeface="Gill Sans"/>
                <a:sym typeface="Gill Sans"/>
              </a:rPr>
              <a:t>1.12</a:t>
            </a:r>
            <a:r>
              <a:rPr b="0" i="0" lang="en-US" sz="2600" u="none">
                <a:solidFill>
                  <a:schemeClr val="dk1"/>
                </a:solidFill>
                <a:latin typeface="Gill Sans"/>
                <a:ea typeface="Gill Sans"/>
                <a:cs typeface="Gill Sans"/>
                <a:sym typeface="Gill Sans"/>
              </a:rPr>
              <a:t> PM</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Embedded:</a:t>
            </a:r>
            <a:r>
              <a:rPr b="0" i="0" lang="en-US" sz="2600" u="none">
                <a:solidFill>
                  <a:schemeClr val="dk1"/>
                </a:solidFill>
                <a:latin typeface="Gill Sans"/>
                <a:ea typeface="Gill Sans"/>
                <a:cs typeface="Gill Sans"/>
                <a:sym typeface="Gill Sans"/>
              </a:rPr>
              <a:t> Effort = 3.6(KLOC)</a:t>
            </a:r>
            <a:r>
              <a:rPr b="0" baseline="30000" i="0" lang="en-US" sz="2600" u="none">
                <a:solidFill>
                  <a:schemeClr val="dk1"/>
                </a:solidFill>
                <a:latin typeface="Gill Sans"/>
                <a:ea typeface="Gill Sans"/>
                <a:cs typeface="Gill Sans"/>
                <a:sym typeface="Gill Sans"/>
              </a:rPr>
              <a:t>1.20</a:t>
            </a:r>
            <a:r>
              <a:rPr b="0" i="0" lang="en-US" sz="2600" u="none">
                <a:solidFill>
                  <a:schemeClr val="dk1"/>
                </a:solidFill>
                <a:latin typeface="Gill Sans"/>
                <a:ea typeface="Gill Sans"/>
                <a:cs typeface="Gill Sans"/>
                <a:sym typeface="Gill Sans"/>
              </a:rPr>
              <a:t> PM</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2"/>
          <p:cNvSpPr txBox="1"/>
          <p:nvPr>
            <p:ph type="title"/>
          </p:nvPr>
        </p:nvSpPr>
        <p:spPr>
          <a:xfrm>
            <a:off x="457200" y="152400"/>
            <a:ext cx="8229600" cy="838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COCOMO Model cont..</a:t>
            </a:r>
            <a:endParaRPr/>
          </a:p>
        </p:txBody>
      </p:sp>
      <p:sp>
        <p:nvSpPr>
          <p:cNvPr id="423" name="Google Shape;423;p42"/>
          <p:cNvSpPr txBox="1"/>
          <p:nvPr>
            <p:ph idx="1" type="body"/>
          </p:nvPr>
        </p:nvSpPr>
        <p:spPr>
          <a:xfrm>
            <a:off x="457200" y="1219200"/>
            <a:ext cx="8534400" cy="50292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520"/>
              <a:buFont typeface="Noto Sans Symbols"/>
              <a:buChar char="🞂"/>
            </a:pPr>
            <a:r>
              <a:rPr b="1" i="0" lang="en-US" sz="2000" u="none">
                <a:solidFill>
                  <a:schemeClr val="dk1"/>
                </a:solidFill>
                <a:latin typeface="Gill Sans"/>
                <a:ea typeface="Gill Sans"/>
                <a:cs typeface="Gill Sans"/>
                <a:sym typeface="Gill Sans"/>
              </a:rPr>
              <a:t>Estimation of </a:t>
            </a:r>
            <a:r>
              <a:rPr b="1" i="0" lang="en-US" sz="2000" u="none">
                <a:solidFill>
                  <a:srgbClr val="C00000"/>
                </a:solidFill>
                <a:latin typeface="Gill Sans"/>
                <a:ea typeface="Gill Sans"/>
                <a:cs typeface="Gill Sans"/>
                <a:sym typeface="Gill Sans"/>
              </a:rPr>
              <a:t>development</a:t>
            </a:r>
            <a:r>
              <a:rPr b="1" i="0" lang="en-US" sz="2000" u="none">
                <a:solidFill>
                  <a:schemeClr val="dk1"/>
                </a:solidFill>
                <a:latin typeface="Gill Sans"/>
                <a:ea typeface="Gill Sans"/>
                <a:cs typeface="Gill Sans"/>
                <a:sym typeface="Gill Sans"/>
              </a:rPr>
              <a:t> </a:t>
            </a:r>
            <a:r>
              <a:rPr b="1" i="0" lang="en-US" sz="2000" u="none">
                <a:solidFill>
                  <a:srgbClr val="C00000"/>
                </a:solidFill>
                <a:latin typeface="Gill Sans"/>
                <a:ea typeface="Gill Sans"/>
                <a:cs typeface="Gill Sans"/>
                <a:sym typeface="Gill Sans"/>
              </a:rPr>
              <a:t>time</a:t>
            </a:r>
            <a:endParaRPr/>
          </a:p>
          <a:p>
            <a:pPr indent="-273050"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For the three classes of software products, the formulas for estimating the development time based on the effort are given below:</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Organic:</a:t>
            </a:r>
            <a:r>
              <a:rPr b="0" i="0" lang="en-US" sz="2600" u="none">
                <a:solidFill>
                  <a:schemeClr val="dk1"/>
                </a:solidFill>
                <a:latin typeface="Gill Sans"/>
                <a:ea typeface="Gill Sans"/>
                <a:cs typeface="Gill Sans"/>
                <a:sym typeface="Gill Sans"/>
              </a:rPr>
              <a:t> Tdev = 2.5(Effort)</a:t>
            </a:r>
            <a:r>
              <a:rPr b="0" baseline="30000" i="0" lang="en-US" sz="2600" u="none">
                <a:solidFill>
                  <a:schemeClr val="dk1"/>
                </a:solidFill>
                <a:latin typeface="Gill Sans"/>
                <a:ea typeface="Gill Sans"/>
                <a:cs typeface="Gill Sans"/>
                <a:sym typeface="Gill Sans"/>
              </a:rPr>
              <a:t>0.38</a:t>
            </a:r>
            <a:r>
              <a:rPr b="0" i="0" lang="en-US" sz="2600" u="none">
                <a:solidFill>
                  <a:schemeClr val="dk1"/>
                </a:solidFill>
                <a:latin typeface="Gill Sans"/>
                <a:ea typeface="Gill Sans"/>
                <a:cs typeface="Gill Sans"/>
                <a:sym typeface="Gill Sans"/>
              </a:rPr>
              <a:t> Months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Semi-detached:</a:t>
            </a:r>
            <a:r>
              <a:rPr b="0" i="0" lang="en-US" sz="2600" u="none">
                <a:solidFill>
                  <a:schemeClr val="dk1"/>
                </a:solidFill>
                <a:latin typeface="Gill Sans"/>
                <a:ea typeface="Gill Sans"/>
                <a:cs typeface="Gill Sans"/>
                <a:sym typeface="Gill Sans"/>
              </a:rPr>
              <a:t> Tdev = 2.5(Effort)</a:t>
            </a:r>
            <a:r>
              <a:rPr b="0" baseline="30000" i="0" lang="en-US" sz="2600" u="none">
                <a:solidFill>
                  <a:schemeClr val="dk1"/>
                </a:solidFill>
                <a:latin typeface="Gill Sans"/>
                <a:ea typeface="Gill Sans"/>
                <a:cs typeface="Gill Sans"/>
                <a:sym typeface="Gill Sans"/>
              </a:rPr>
              <a:t>0.35</a:t>
            </a:r>
            <a:r>
              <a:rPr b="0" i="0" lang="en-US" sz="2600" u="none">
                <a:solidFill>
                  <a:schemeClr val="dk1"/>
                </a:solidFill>
                <a:latin typeface="Gill Sans"/>
                <a:ea typeface="Gill Sans"/>
                <a:cs typeface="Gill Sans"/>
                <a:sym typeface="Gill Sans"/>
              </a:rPr>
              <a:t> Months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Embedded:</a:t>
            </a:r>
            <a:r>
              <a:rPr b="0" i="0" lang="en-US" sz="2600" u="none">
                <a:solidFill>
                  <a:schemeClr val="dk1"/>
                </a:solidFill>
                <a:latin typeface="Gill Sans"/>
                <a:ea typeface="Gill Sans"/>
                <a:cs typeface="Gill Sans"/>
                <a:sym typeface="Gill Sans"/>
              </a:rPr>
              <a:t> Tdev = 2.5(Effort)</a:t>
            </a:r>
            <a:r>
              <a:rPr b="0" baseline="30000" i="0" lang="en-US" sz="2600" u="none">
                <a:solidFill>
                  <a:schemeClr val="dk1"/>
                </a:solidFill>
                <a:latin typeface="Gill Sans"/>
                <a:ea typeface="Gill Sans"/>
                <a:cs typeface="Gill Sans"/>
                <a:sym typeface="Gill Sans"/>
              </a:rPr>
              <a:t>0.32</a:t>
            </a:r>
            <a:r>
              <a:rPr b="0" i="0" lang="en-US" sz="2600" u="none">
                <a:solidFill>
                  <a:schemeClr val="dk1"/>
                </a:solidFill>
                <a:latin typeface="Gill Sans"/>
                <a:ea typeface="Gill Sans"/>
                <a:cs typeface="Gill Sans"/>
                <a:sym typeface="Gill Sans"/>
              </a:rPr>
              <a:t> Months</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3"/>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Example</a:t>
            </a:r>
            <a:endParaRPr/>
          </a:p>
        </p:txBody>
      </p:sp>
      <p:sp>
        <p:nvSpPr>
          <p:cNvPr id="429" name="Google Shape;429;p43"/>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Suppose a project was estimated to be 400 KLOC. Calculate the effort and development time for each of the three model i.e., organic, semi-detached &amp; embedded.</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Solution:</a:t>
            </a:r>
            <a:r>
              <a:rPr b="0" i="0" lang="en-US" sz="2600" u="none">
                <a:solidFill>
                  <a:schemeClr val="dk1"/>
                </a:solidFill>
                <a:latin typeface="Gill Sans"/>
                <a:ea typeface="Gill Sans"/>
                <a:cs typeface="Gill Sans"/>
                <a:sym typeface="Gill Sans"/>
              </a:rPr>
              <a:t> The basic COCOMO equation takes the form:</a:t>
            </a:r>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Effort=a</a:t>
            </a:r>
            <a:r>
              <a:rPr b="0" baseline="-25000" i="0" lang="en-US" sz="2600" u="none">
                <a:solidFill>
                  <a:schemeClr val="dk1"/>
                </a:solidFill>
                <a:latin typeface="Gill Sans"/>
                <a:ea typeface="Gill Sans"/>
                <a:cs typeface="Gill Sans"/>
                <a:sym typeface="Gill Sans"/>
              </a:rPr>
              <a:t>1</a:t>
            </a:r>
            <a:r>
              <a:rPr b="0" i="0" lang="en-US" sz="2600" u="none">
                <a:solidFill>
                  <a:schemeClr val="dk1"/>
                </a:solidFill>
                <a:latin typeface="Gill Sans"/>
                <a:ea typeface="Gill Sans"/>
                <a:cs typeface="Gill Sans"/>
                <a:sym typeface="Gill Sans"/>
              </a:rPr>
              <a:t>*(KLOC)</a:t>
            </a:r>
            <a:r>
              <a:rPr b="0" baseline="30000" i="0" lang="en-US" sz="2600" u="none">
                <a:solidFill>
                  <a:schemeClr val="dk1"/>
                </a:solidFill>
                <a:latin typeface="Gill Sans"/>
                <a:ea typeface="Gill Sans"/>
                <a:cs typeface="Gill Sans"/>
                <a:sym typeface="Gill Sans"/>
              </a:rPr>
              <a:t>a2</a:t>
            </a:r>
            <a:r>
              <a:rPr b="0" i="0" lang="en-US" sz="2600" u="none">
                <a:solidFill>
                  <a:schemeClr val="dk1"/>
                </a:solidFill>
                <a:latin typeface="Gill Sans"/>
                <a:ea typeface="Gill Sans"/>
                <a:cs typeface="Gill Sans"/>
                <a:sym typeface="Gill Sans"/>
              </a:rPr>
              <a:t> PM</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Tdev=b</a:t>
            </a:r>
            <a:r>
              <a:rPr b="0" baseline="-25000" i="0" lang="en-US" sz="2600" u="none">
                <a:solidFill>
                  <a:schemeClr val="dk1"/>
                </a:solidFill>
                <a:latin typeface="Gill Sans"/>
                <a:ea typeface="Gill Sans"/>
                <a:cs typeface="Gill Sans"/>
                <a:sym typeface="Gill Sans"/>
              </a:rPr>
              <a:t>1</a:t>
            </a:r>
            <a:r>
              <a:rPr b="0" i="0" lang="en-US" sz="2600" u="none">
                <a:solidFill>
                  <a:schemeClr val="dk1"/>
                </a:solidFill>
                <a:latin typeface="Gill Sans"/>
                <a:ea typeface="Gill Sans"/>
                <a:cs typeface="Gill Sans"/>
                <a:sym typeface="Gill Sans"/>
              </a:rPr>
              <a:t>*(efforts)</a:t>
            </a:r>
            <a:r>
              <a:rPr b="0" baseline="30000" i="0" lang="en-US" sz="2600" u="none">
                <a:solidFill>
                  <a:schemeClr val="dk1"/>
                </a:solidFill>
                <a:latin typeface="Gill Sans"/>
                <a:ea typeface="Gill Sans"/>
                <a:cs typeface="Gill Sans"/>
                <a:sym typeface="Gill Sans"/>
              </a:rPr>
              <a:t>b2</a:t>
            </a:r>
            <a:r>
              <a:rPr b="0" i="0" lang="en-US" sz="2600" u="none">
                <a:solidFill>
                  <a:schemeClr val="dk1"/>
                </a:solidFill>
                <a:latin typeface="Gill Sans"/>
                <a:ea typeface="Gill Sans"/>
                <a:cs typeface="Gill Sans"/>
                <a:sym typeface="Gill Sans"/>
              </a:rPr>
              <a:t> Months</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Estimated Size of project= 400 KLOC</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4"/>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Example cont..</a:t>
            </a:r>
            <a:endParaRPr/>
          </a:p>
        </p:txBody>
      </p:sp>
      <p:sp>
        <p:nvSpPr>
          <p:cNvPr id="435" name="Google Shape;435;p44"/>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(i)Organic Mode</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E = 2.4 * (400)</a:t>
            </a:r>
            <a:r>
              <a:rPr b="0" baseline="30000" i="0" lang="en-US" sz="2600" u="none">
                <a:solidFill>
                  <a:schemeClr val="dk1"/>
                </a:solidFill>
                <a:latin typeface="Gill Sans"/>
                <a:ea typeface="Gill Sans"/>
                <a:cs typeface="Gill Sans"/>
                <a:sym typeface="Gill Sans"/>
              </a:rPr>
              <a:t>1.05</a:t>
            </a:r>
            <a:r>
              <a:rPr b="0" i="0" lang="en-US" sz="2600" u="none">
                <a:solidFill>
                  <a:schemeClr val="dk1"/>
                </a:solidFill>
                <a:latin typeface="Gill Sans"/>
                <a:ea typeface="Gill Sans"/>
                <a:cs typeface="Gill Sans"/>
                <a:sym typeface="Gill Sans"/>
              </a:rPr>
              <a:t> = 1295.31 PM</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 = 2.5 * (1295.31)</a:t>
            </a:r>
            <a:r>
              <a:rPr b="0" baseline="30000" i="0" lang="en-US" sz="2600" u="none">
                <a:solidFill>
                  <a:schemeClr val="dk1"/>
                </a:solidFill>
                <a:latin typeface="Gill Sans"/>
                <a:ea typeface="Gill Sans"/>
                <a:cs typeface="Gill Sans"/>
                <a:sym typeface="Gill Sans"/>
              </a:rPr>
              <a:t>0.38</a:t>
            </a:r>
            <a:r>
              <a:rPr b="0" i="0" lang="en-US" sz="2600" u="none">
                <a:solidFill>
                  <a:schemeClr val="dk1"/>
                </a:solidFill>
                <a:latin typeface="Gill Sans"/>
                <a:ea typeface="Gill Sans"/>
                <a:cs typeface="Gill Sans"/>
                <a:sym typeface="Gill Sans"/>
              </a:rPr>
              <a:t>=38.07 Months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(ii)Semidetached Mode</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E = 3.0 * (400)</a:t>
            </a:r>
            <a:r>
              <a:rPr b="0" baseline="30000" i="0" lang="en-US" sz="2600" u="none">
                <a:solidFill>
                  <a:schemeClr val="dk1"/>
                </a:solidFill>
                <a:latin typeface="Gill Sans"/>
                <a:ea typeface="Gill Sans"/>
                <a:cs typeface="Gill Sans"/>
                <a:sym typeface="Gill Sans"/>
              </a:rPr>
              <a:t>1.12</a:t>
            </a:r>
            <a:r>
              <a:rPr b="0" i="0" lang="en-US" sz="2600" u="none">
                <a:solidFill>
                  <a:schemeClr val="dk1"/>
                </a:solidFill>
                <a:latin typeface="Gill Sans"/>
                <a:ea typeface="Gill Sans"/>
                <a:cs typeface="Gill Sans"/>
                <a:sym typeface="Gill Sans"/>
              </a:rPr>
              <a:t>=2462.79 PM</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 = 2.5 * (2462.79)</a:t>
            </a:r>
            <a:r>
              <a:rPr b="0" baseline="30000" i="0" lang="en-US" sz="2600" u="none">
                <a:solidFill>
                  <a:schemeClr val="dk1"/>
                </a:solidFill>
                <a:latin typeface="Gill Sans"/>
                <a:ea typeface="Gill Sans"/>
                <a:cs typeface="Gill Sans"/>
                <a:sym typeface="Gill Sans"/>
              </a:rPr>
              <a:t>0.35</a:t>
            </a:r>
            <a:r>
              <a:rPr b="0" i="0" lang="en-US" sz="2600" u="none">
                <a:solidFill>
                  <a:schemeClr val="dk1"/>
                </a:solidFill>
                <a:latin typeface="Gill Sans"/>
                <a:ea typeface="Gill Sans"/>
                <a:cs typeface="Gill Sans"/>
                <a:sym typeface="Gill Sans"/>
              </a:rPr>
              <a:t>=38.45 Months</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(iii) Embedded Mode</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None/>
            </a:pPr>
            <a:r>
              <a:rPr b="0" i="0" lang="en-US" sz="2600" u="none">
                <a:solidFill>
                  <a:schemeClr val="dk1"/>
                </a:solidFill>
                <a:latin typeface="Gill Sans"/>
                <a:ea typeface="Gill Sans"/>
                <a:cs typeface="Gill Sans"/>
                <a:sym typeface="Gill Sans"/>
              </a:rPr>
              <a:t>	                E = 3.6 * (400)</a:t>
            </a:r>
            <a:r>
              <a:rPr b="0" baseline="30000" i="0" lang="en-US" sz="2600" u="none">
                <a:solidFill>
                  <a:schemeClr val="dk1"/>
                </a:solidFill>
                <a:latin typeface="Gill Sans"/>
                <a:ea typeface="Gill Sans"/>
                <a:cs typeface="Gill Sans"/>
                <a:sym typeface="Gill Sans"/>
              </a:rPr>
              <a:t>1.20</a:t>
            </a:r>
            <a:r>
              <a:rPr b="0" i="0" lang="en-US" sz="2600" u="none">
                <a:solidFill>
                  <a:schemeClr val="dk1"/>
                </a:solidFill>
                <a:latin typeface="Gill Sans"/>
                <a:ea typeface="Gill Sans"/>
                <a:cs typeface="Gill Sans"/>
                <a:sym typeface="Gill Sans"/>
              </a:rPr>
              <a:t> = 4772.81 PM</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 = 2.5 * (4772.8)</a:t>
            </a:r>
            <a:r>
              <a:rPr b="0" baseline="30000" i="0" lang="en-US" sz="2600" u="none">
                <a:solidFill>
                  <a:schemeClr val="dk1"/>
                </a:solidFill>
                <a:latin typeface="Gill Sans"/>
                <a:ea typeface="Gill Sans"/>
                <a:cs typeface="Gill Sans"/>
                <a:sym typeface="Gill Sans"/>
              </a:rPr>
              <a:t>0.32</a:t>
            </a:r>
            <a:r>
              <a:rPr b="0" i="0" lang="en-US" sz="2600" u="none">
                <a:solidFill>
                  <a:schemeClr val="dk1"/>
                </a:solidFill>
                <a:latin typeface="Gill Sans"/>
                <a:ea typeface="Gill Sans"/>
                <a:cs typeface="Gill Sans"/>
                <a:sym typeface="Gill Sans"/>
              </a:rPr>
              <a:t> = 38 Months</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Example 2</a:t>
            </a:r>
            <a:endParaRPr/>
          </a:p>
        </p:txBody>
      </p:sp>
      <p:sp>
        <p:nvSpPr>
          <p:cNvPr id="441" name="Google Shape;441;p45"/>
          <p:cNvSpPr txBox="1"/>
          <p:nvPr>
            <p:ph idx="1" type="body"/>
          </p:nvPr>
        </p:nvSpPr>
        <p:spPr>
          <a:xfrm>
            <a:off x="457200" y="1219200"/>
            <a:ext cx="8229600" cy="4937125"/>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A project size of 200 KLOC is to be developed. Software development team has average experience on similar type of projects. The project schedule is not very tight. </a:t>
            </a:r>
            <a:r>
              <a:rPr b="1" i="0" lang="en-US" sz="2600" u="none">
                <a:solidFill>
                  <a:schemeClr val="dk1"/>
                </a:solidFill>
                <a:latin typeface="Gill Sans"/>
                <a:ea typeface="Gill Sans"/>
                <a:cs typeface="Gill Sans"/>
                <a:sym typeface="Gill Sans"/>
              </a:rPr>
              <a:t>Calculate the Effort</a:t>
            </a:r>
            <a:r>
              <a:rPr b="0" i="0" lang="en-US" sz="2600" u="none">
                <a:solidFill>
                  <a:schemeClr val="dk1"/>
                </a:solidFill>
                <a:latin typeface="Gill Sans"/>
                <a:ea typeface="Gill Sans"/>
                <a:cs typeface="Gill Sans"/>
                <a:sym typeface="Gill Sans"/>
              </a:rPr>
              <a:t>, </a:t>
            </a:r>
            <a:r>
              <a:rPr b="1" i="0" lang="en-US" sz="2600" u="none">
                <a:solidFill>
                  <a:schemeClr val="dk1"/>
                </a:solidFill>
                <a:latin typeface="Gill Sans"/>
                <a:ea typeface="Gill Sans"/>
                <a:cs typeface="Gill Sans"/>
                <a:sym typeface="Gill Sans"/>
              </a:rPr>
              <a:t>development time</a:t>
            </a:r>
            <a:r>
              <a:rPr b="0" i="0" lang="en-US" sz="2600" u="none">
                <a:solidFill>
                  <a:schemeClr val="dk1"/>
                </a:solidFill>
                <a:latin typeface="Gill Sans"/>
                <a:ea typeface="Gill Sans"/>
                <a:cs typeface="Gill Sans"/>
                <a:sym typeface="Gill Sans"/>
              </a:rPr>
              <a:t>,</a:t>
            </a:r>
            <a:r>
              <a:rPr b="1" i="0" lang="en-US" sz="2600" u="none">
                <a:solidFill>
                  <a:schemeClr val="dk1"/>
                </a:solidFill>
                <a:latin typeface="Gill Sans"/>
                <a:ea typeface="Gill Sans"/>
                <a:cs typeface="Gill Sans"/>
                <a:sym typeface="Gill Sans"/>
              </a:rPr>
              <a:t> average staff size</a:t>
            </a:r>
            <a:r>
              <a:rPr b="0" i="0" lang="en-US" sz="2600" u="none">
                <a:solidFill>
                  <a:schemeClr val="dk1"/>
                </a:solidFill>
                <a:latin typeface="Gill Sans"/>
                <a:ea typeface="Gill Sans"/>
                <a:cs typeface="Gill Sans"/>
                <a:sym typeface="Gill Sans"/>
              </a:rPr>
              <a:t>, and </a:t>
            </a:r>
            <a:r>
              <a:rPr b="1" i="0" lang="en-US" sz="2600" u="none">
                <a:solidFill>
                  <a:schemeClr val="dk1"/>
                </a:solidFill>
                <a:latin typeface="Gill Sans"/>
                <a:ea typeface="Gill Sans"/>
                <a:cs typeface="Gill Sans"/>
                <a:sym typeface="Gill Sans"/>
              </a:rPr>
              <a:t>productivity</a:t>
            </a:r>
            <a:r>
              <a:rPr b="0" i="0" lang="en-US" sz="2600" u="none">
                <a:solidFill>
                  <a:schemeClr val="dk1"/>
                </a:solidFill>
                <a:latin typeface="Gill Sans"/>
                <a:ea typeface="Gill Sans"/>
                <a:cs typeface="Gill Sans"/>
                <a:sym typeface="Gill Sans"/>
              </a:rPr>
              <a:t> of the project.</a:t>
            </a:r>
            <a:endParaRPr/>
          </a:p>
          <a:p>
            <a:pPr indent="-147574" lvl="0" marL="273050" marR="0" rtl="0" algn="l">
              <a:lnSpc>
                <a:spcPct val="100000"/>
              </a:lnSpc>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a:p>
            <a:pPr indent="-273050" lvl="0" marL="273050" marR="0" rtl="0" algn="l">
              <a:lnSpc>
                <a:spcPct val="100000"/>
              </a:lnSpc>
              <a:spcBef>
                <a:spcPts val="600"/>
              </a:spcBef>
              <a:spcAft>
                <a:spcPts val="0"/>
              </a:spcAft>
              <a:buClr>
                <a:schemeClr val="accent1"/>
              </a:buClr>
              <a:buSzPts val="1976"/>
              <a:buFont typeface="Noto Sans Symbols"/>
              <a:buChar char="🞂"/>
            </a:pPr>
            <a:r>
              <a:rPr b="1" i="0" lang="en-US" sz="2600" u="none">
                <a:solidFill>
                  <a:schemeClr val="dk1"/>
                </a:solidFill>
                <a:latin typeface="Gill Sans"/>
                <a:ea typeface="Gill Sans"/>
                <a:cs typeface="Gill Sans"/>
                <a:sym typeface="Gill Sans"/>
              </a:rPr>
              <a:t>Solution:</a:t>
            </a:r>
            <a:r>
              <a:rPr b="0" i="0" lang="en-US" sz="2600" u="none">
                <a:solidFill>
                  <a:schemeClr val="dk1"/>
                </a:solidFill>
                <a:latin typeface="Gill Sans"/>
                <a:ea typeface="Gill Sans"/>
                <a:cs typeface="Gill Sans"/>
                <a:sym typeface="Gill Sans"/>
              </a:rPr>
              <a:t> The semidetached mode is the most appropriate mode, keeping in view the size, schedule and experience of development time.</a:t>
            </a:r>
            <a:endParaRPr/>
          </a:p>
          <a:p>
            <a:pPr indent="-273050" lvl="0" marL="273050" marR="0" rtl="0" algn="l">
              <a:lnSpc>
                <a:spcPct val="100000"/>
              </a:lnSpc>
              <a:spcBef>
                <a:spcPts val="600"/>
              </a:spcBef>
              <a:spcAft>
                <a:spcPts val="0"/>
              </a:spcAft>
              <a:buClr>
                <a:schemeClr val="accent1"/>
              </a:buClr>
              <a:buSzPts val="1976"/>
              <a:buFont typeface="Noto Sans Symbols"/>
              <a:buChar char="🞂"/>
            </a:pPr>
            <a:r>
              <a:rPr b="0" i="0" lang="en-US" sz="2600" u="none">
                <a:solidFill>
                  <a:schemeClr val="dk1"/>
                </a:solidFill>
                <a:latin typeface="Gill Sans"/>
                <a:ea typeface="Gill Sans"/>
                <a:cs typeface="Gill Sans"/>
                <a:sym typeface="Gill Sans"/>
              </a:rPr>
              <a:t>Hence       E=3.0(200)</a:t>
            </a:r>
            <a:r>
              <a:rPr b="0" baseline="30000" i="0" lang="en-US" sz="2600" u="none">
                <a:solidFill>
                  <a:schemeClr val="dk1"/>
                </a:solidFill>
                <a:latin typeface="Gill Sans"/>
                <a:ea typeface="Gill Sans"/>
                <a:cs typeface="Gill Sans"/>
                <a:sym typeface="Gill Sans"/>
              </a:rPr>
              <a:t>1.12</a:t>
            </a:r>
            <a:r>
              <a:rPr b="0" i="0" lang="en-US" sz="2600" u="none">
                <a:solidFill>
                  <a:schemeClr val="dk1"/>
                </a:solidFill>
                <a:latin typeface="Gill Sans"/>
                <a:ea typeface="Gill Sans"/>
                <a:cs typeface="Gill Sans"/>
                <a:sym typeface="Gill Sans"/>
              </a:rPr>
              <a:t>=1133.12PM</a:t>
            </a:r>
            <a:br>
              <a:rPr b="0" i="0" lang="en-US" sz="2600" u="none">
                <a:solidFill>
                  <a:schemeClr val="dk1"/>
                </a:solidFill>
                <a:latin typeface="Gill Sans"/>
                <a:ea typeface="Gill Sans"/>
                <a:cs typeface="Gill Sans"/>
                <a:sym typeface="Gill Sans"/>
              </a:rPr>
            </a:br>
            <a:r>
              <a:rPr b="0" i="0" lang="en-US" sz="2600" u="none">
                <a:solidFill>
                  <a:schemeClr val="dk1"/>
                </a:solidFill>
                <a:latin typeface="Gill Sans"/>
                <a:ea typeface="Gill Sans"/>
                <a:cs typeface="Gill Sans"/>
                <a:sym typeface="Gill Sans"/>
              </a:rPr>
              <a:t>                D=2.5(1133.12)</a:t>
            </a:r>
            <a:r>
              <a:rPr b="0" baseline="30000" i="0" lang="en-US" sz="2600" u="none">
                <a:solidFill>
                  <a:schemeClr val="dk1"/>
                </a:solidFill>
                <a:latin typeface="Gill Sans"/>
                <a:ea typeface="Gill Sans"/>
                <a:cs typeface="Gill Sans"/>
                <a:sym typeface="Gill Sans"/>
              </a:rPr>
              <a:t>0.35</a:t>
            </a:r>
            <a:r>
              <a:rPr b="0" i="0" lang="en-US" sz="2600" u="none">
                <a:solidFill>
                  <a:schemeClr val="dk1"/>
                </a:solidFill>
                <a:latin typeface="Gill Sans"/>
                <a:ea typeface="Gill Sans"/>
                <a:cs typeface="Gill Sans"/>
                <a:sym typeface="Gill Sans"/>
              </a:rPr>
              <a:t>=29.3Months</a:t>
            </a:r>
            <a:endParaRPr/>
          </a:p>
          <a:p>
            <a:pPr indent="-147574" lvl="0" marL="273050" marR="0" rtl="0" algn="l">
              <a:spcBef>
                <a:spcPts val="600"/>
              </a:spcBef>
              <a:spcAft>
                <a:spcPts val="0"/>
              </a:spcAft>
              <a:buClr>
                <a:schemeClr val="accent1"/>
              </a:buClr>
              <a:buSzPts val="1976"/>
              <a:buFont typeface="Noto Sans Symbols"/>
              <a:buNone/>
            </a:pPr>
            <a:r>
              <a:t/>
            </a:r>
            <a:endParaRPr b="0" i="0" sz="2600" u="none">
              <a:solidFill>
                <a:schemeClr val="dk1"/>
              </a:solidFill>
              <a:latin typeface="Gill Sans"/>
              <a:ea typeface="Gill Sans"/>
              <a:cs typeface="Gill Sans"/>
              <a:sym typeface="Gill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6"/>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1" i="0" lang="en-US" sz="3200" u="none">
                <a:solidFill>
                  <a:schemeClr val="dk2"/>
                </a:solidFill>
                <a:latin typeface="Bookman Old Style"/>
                <a:ea typeface="Bookman Old Style"/>
                <a:cs typeface="Bookman Old Style"/>
                <a:sym typeface="Bookman Old Style"/>
              </a:rPr>
              <a:t>Example 2 cont..</a:t>
            </a:r>
            <a:endParaRPr/>
          </a:p>
        </p:txBody>
      </p:sp>
      <p:pic>
        <p:nvPicPr>
          <p:cNvPr descr="COCOMO Model" id="447" name="Google Shape;447;p46"/>
          <p:cNvPicPr preferRelativeResize="0"/>
          <p:nvPr/>
        </p:nvPicPr>
        <p:blipFill rotWithShape="1">
          <a:blip r:embed="rId3">
            <a:alphaModFix/>
          </a:blip>
          <a:srcRect b="0" l="0" r="0" t="0"/>
          <a:stretch/>
        </p:blipFill>
        <p:spPr>
          <a:xfrm>
            <a:off x="457200" y="1676400"/>
            <a:ext cx="6643687" cy="2133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Deepak</dc:creator>
</cp:coreProperties>
</file>

<file path=docProps/custom.xml><?xml version="1.0" encoding="utf-8"?>
<Properties xmlns="http://schemas.openxmlformats.org/officeDocument/2006/custom-properties" xmlns:vt="http://schemas.openxmlformats.org/officeDocument/2006/docPropsVTypes"/>
</file>